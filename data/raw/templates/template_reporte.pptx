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60"/>
  </p:normalViewPr>
  <p:slideViewPr>
    <p:cSldViewPr snapToGrid="0">
      <p:cViewPr>
        <p:scale>
          <a:sx n="125" d="100"/>
          <a:sy n="125" d="100"/>
        </p:scale>
        <p:origin x="606" y="-15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7T23:16:01.630" v="1522" actId="20577"/>
      <pc:docMkLst>
        <pc:docMk/>
      </pc:docMkLst>
      <pc:sldChg chg="addSp delSp modSp mod">
        <pc:chgData name="Pablo Inzunza" userId="be16ff5b34c21876" providerId="LiveId" clId="{CC6937A5-FA4E-485C-A7D4-0E92CAEDBC02}" dt="2026-03-27T23:16:01.630" v="1522" actId="20577"/>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7T23:15:59.165" v="1520" actId="20577"/>
          <ac:spMkLst>
            <pc:docMk/>
            <pc:sldMk cId="1567814596" sldId="256"/>
            <ac:spMk id="12" creationId="{C20A4FE8-703A-B4F6-E958-8947D382BD2C}"/>
          </ac:spMkLst>
        </pc:spChg>
        <pc:spChg chg="add mod">
          <ac:chgData name="Pablo Inzunza" userId="be16ff5b34c21876" providerId="LiveId" clId="{CC6937A5-FA4E-485C-A7D4-0E92CAEDBC02}" dt="2026-03-27T23:16:01.630" v="1522" actId="20577"/>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31-03-2026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31-03-2026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31-03-2026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31-03-2026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inenergia.sharepoint.com/sites/intranet2/Paginas/Reportes-del-Sistema-El%C3%A9ctrico.aspx#/tabs1"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a:t>
            </a:r>
            <a:r>
              <a:rPr lang="es-CL" sz="1926" b="1" kern="100" dirty="0">
                <a:solidFill>
                  <a:srgbClr val="6FA3CC"/>
                </a:solidFill>
                <a:latin typeface="DM Sans" pitchFamily="2" charset="0"/>
                <a:cs typeface="Times New Roman" panose="02020603050405020304" pitchFamily="18" charset="0"/>
              </a:rPr>
              <a:t>: </a:t>
            </a:r>
            <a:r>
              <a:rPr lang="es-CL" sz="1600" b="1" kern="100" dirty="0">
                <a:solidFill>
                  <a:srgbClr val="6FA3CC"/>
                </a:solidFill>
                <a:latin typeface="Museo Sans 300" panose="02000000000000000000" pitchFamily="50"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4764061"/>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costo marginal promedio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durante este período fue de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kpis.cmg_promedio</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$/kWh, alcanzando su máximo de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kpis.cmg_max</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$/kWh en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kpis.cmg_max_mensual_periodo</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a:t>
            </a: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promedio de spread </a:t>
            </a:r>
            <a:r>
              <a:rPr lang="es-CL" sz="1200" b="1"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CMg</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entre horas solares y no solares registró un máximo de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kpis.cmg_spread_max_crucero</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en la barra Crucero 220kV , mientras que en la barra Puerto Montt 220kV el valor ascendió a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kpis.cmg_spread_max_p_montt</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gobCL" pitchFamily="50" charset="0"/>
                <a:cs typeface="Times New Roman" panose="02020603050405020304" pitchFamily="18" charset="0"/>
              </a:rPr>
              <a:t>INDICADORES CLAVE</a:t>
            </a:r>
            <a:endParaRPr lang="es-CL" sz="1900" b="1" kern="100" dirty="0">
              <a:solidFill>
                <a:srgbClr val="002060"/>
              </a:solidFill>
              <a:latin typeface="gobCL" pitchFamily="50"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524042"/>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Entre enero y diciembre de 2025, la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energía renovable total reducida</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asciende a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kpis.vert_total_mwh</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MWh</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destacando el caso de la central solar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kpis.empresa_vert_max</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que redujo sus inyecciones en un total de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kpis.vert_empresa_vert_max</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durante el periodo de estudio. </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kpis.cmg_promedio_clave</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kpis.cmg_spread_max_crucero</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kpis.vert_total_mwh_clave</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kpis.vert_empresa_vert_max</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396664"/>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endParaRPr>
          </a:p>
          <a:p>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397840"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CMG</a:t>
            </a:r>
            <a:r>
              <a:rPr lang="es-CL" sz="1000" b="1" dirty="0">
                <a:solidFill>
                  <a:srgbClr val="8EC5FF"/>
                </a:solidFill>
                <a:latin typeface="Museo Sans 500" panose="02000000000000000000" pitchFamily="50" charset="0"/>
                <a:ea typeface="Calibri" panose="020F0502020204030204" pitchFamily="34" charset="0"/>
                <a:cs typeface="Calibri" panose="020F0502020204030204" pitchFamily="34" charset="0"/>
              </a:rPr>
              <a:t> </a:t>
            </a:r>
            <a:r>
              <a:rPr lang="es-CL" sz="1000" b="1" kern="100" dirty="0">
                <a:solidFill>
                  <a:srgbClr val="002060"/>
                </a:solidFill>
                <a:latin typeface="Museo Sans 500" panose="02000000000000000000" pitchFamily="50"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Museo Sans 500" panose="02000000000000000000" pitchFamily="50" charset="0"/>
                <a:cs typeface="Times New Roman" panose="02020603050405020304" pitchFamily="18" charset="0"/>
              </a:rPr>
              <a:t>SPREAD</a:t>
            </a:r>
            <a:r>
              <a:rPr lang="es-ES" sz="1000" b="1" dirty="0">
                <a:solidFill>
                  <a:srgbClr val="8EC5FF"/>
                </a:solidFill>
                <a:latin typeface="Museo Sans 500" panose="02000000000000000000" pitchFamily="50" charset="0"/>
                <a:ea typeface="Calibri" panose="020F0502020204030204" pitchFamily="34" charset="0"/>
                <a:cs typeface="Calibri" panose="020F0502020204030204" pitchFamily="34" charset="0"/>
              </a:rPr>
              <a:t> </a:t>
            </a:r>
            <a:r>
              <a:rPr lang="es-ES" sz="1000" b="1" kern="100" dirty="0">
                <a:solidFill>
                  <a:srgbClr val="002060"/>
                </a:solidFill>
                <a:latin typeface="Museo Sans 500" panose="02000000000000000000" pitchFamily="50" charset="0"/>
                <a:cs typeface="Times New Roman" panose="02020603050405020304" pitchFamily="18" charset="0"/>
              </a:rPr>
              <a:t>MÁXIMO</a:t>
            </a:r>
            <a:endParaRPr lang="es-CL" sz="1000" b="1" kern="100" dirty="0">
              <a:solidFill>
                <a:srgbClr val="002060"/>
              </a:solidFill>
              <a:latin typeface="Museo Sans 500" panose="02000000000000000000" pitchFamily="50"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7" y="3511340"/>
            <a:ext cx="2302423"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REDUCCIÓN RENOVABLE MAX.</a:t>
            </a:r>
          </a:p>
        </p:txBody>
      </p:sp>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Museo Sans 500" panose="02000000000000000000" pitchFamily="50" charset="0"/>
                <a:cs typeface="Times New Roman" panose="02020603050405020304" pitchFamily="18" charset="0"/>
              </a:rPr>
              <a:t>CMg</a:t>
            </a:r>
            <a:r>
              <a:rPr lang="es-ES" sz="1600" b="1" kern="100" dirty="0">
                <a:solidFill>
                  <a:srgbClr val="002060"/>
                </a:solidFill>
                <a:latin typeface="Museo Sans 500" panose="02000000000000000000" pitchFamily="50" charset="0"/>
                <a:cs typeface="Times New Roman" panose="02020603050405020304" pitchFamily="18" charset="0"/>
              </a:rPr>
              <a:t> promedio por mes</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246385" y="11641629"/>
            <a:ext cx="120317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USD/</a:t>
            </a: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Mes</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4" name="titulo_ubicacion_barras">
            <a:extLst>
              <a:ext uri="{FF2B5EF4-FFF2-40B4-BE49-F238E27FC236}">
                <a16:creationId xmlns:a16="http://schemas.microsoft.com/office/drawing/2014/main" id="{97382C54-08E1-03B3-5C0F-3054406FE845}"/>
              </a:ext>
            </a:extLst>
          </p:cNvPr>
          <p:cNvSpPr txBox="1">
            <a:spLocks/>
          </p:cNvSpPr>
          <p:nvPr/>
        </p:nvSpPr>
        <p:spPr>
          <a:xfrm rot="5400000">
            <a:off x="8800466" y="11314402"/>
            <a:ext cx="226694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Ubicación de las barras</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gobCL" pitchFamily="50"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275.124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MWh</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al fin del cuatro trimestre.</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Al comparar con 2024,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Los 3 primeros trimestres del 2025 superaron a sus homólogos del 2024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Museo Sans 300" panose="02000000000000000000" pitchFamily="50"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 </a:t>
            </a:r>
            <a:r>
              <a:rPr lang="es-CL" sz="1600" b="1" kern="100" dirty="0">
                <a:solidFill>
                  <a:srgbClr val="6FA3CC"/>
                </a:solidFill>
                <a:latin typeface="Museo Sans 300" panose="02000000000000000000" pitchFamily="50" charset="0"/>
                <a:cs typeface="Times New Roman" panose="02020603050405020304" pitchFamily="18" charset="0"/>
              </a:rPr>
              <a:t>2025-01 → 2025-12</a:t>
            </a:r>
          </a:p>
        </p:txBody>
      </p:sp>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24495" y="3909869"/>
            <a:ext cx="107109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USH/</a:t>
            </a: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Museo Sans 300" panose="02000000000000000000" pitchFamily="50" charset="0"/>
                <a:cs typeface="Times New Roman" panose="02020603050405020304" pitchFamily="18" charset="0"/>
              </a:rPr>
              <a:t>CMg</a:t>
            </a:r>
            <a:r>
              <a:rPr lang="es-ES" sz="1600" b="1" kern="100" dirty="0">
                <a:solidFill>
                  <a:srgbClr val="002060"/>
                </a:solidFill>
                <a:latin typeface="Museo Sans 300" panose="02000000000000000000" pitchFamily="50" charset="0"/>
                <a:cs typeface="Times New Roman" panose="02020603050405020304" pitchFamily="18" charset="0"/>
              </a:rPr>
              <a:t> promedio: horas solares vs no solares</a:t>
            </a:r>
            <a:endParaRPr lang="es-CL" sz="1600" b="1" kern="100" dirty="0">
              <a:solidFill>
                <a:srgbClr val="002060"/>
              </a:solidFill>
              <a:latin typeface="Museo Sans 300" panose="02000000000000000000" pitchFamily="50"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Evolución trimestral de inyección BESS</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Reducciones de energía renovable</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11068" y="9438023"/>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Trimestre</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11068" y="13360587"/>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Trimestre</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gobCL" pitchFamily="50"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470997"/>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—{{kpis.fecha_perfil_1}} y {{kpis.fecha_perfil_2}}—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 </a:t>
            </a:r>
            <a:r>
              <a:rPr lang="es-CL" sz="1600" b="1" kern="100" dirty="0">
                <a:solidFill>
                  <a:srgbClr val="6FA3CC"/>
                </a:solidFill>
                <a:latin typeface="Museo Sans 300" panose="02000000000000000000" pitchFamily="50" charset="0"/>
                <a:cs typeface="Times New Roman" panose="02020603050405020304" pitchFamily="18" charset="0"/>
              </a:rPr>
              <a:t>2025-01 → 2025-12</a:t>
            </a:r>
          </a:p>
        </p:txBody>
      </p:sp>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Generación diaria típica por tecnología</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Museo Sans 500" panose="02000000000000000000" pitchFamily="50" charset="0"/>
                <a:cs typeface="Times New Roman" panose="02020603050405020304" pitchFamily="18" charset="0"/>
              </a:rPr>
              <a:t>Fecha de referencia: </a:t>
            </a:r>
            <a:r>
              <a:rPr lang="es-CL" sz="1000" b="1" kern="100" dirty="0">
                <a:solidFill>
                  <a:srgbClr val="8A8775"/>
                </a:solidFill>
                <a:latin typeface="Museo Sans 500" panose="02000000000000000000" pitchFamily="50" charset="0"/>
                <a:cs typeface="Times New Roman" panose="02020603050405020304" pitchFamily="18" charset="0"/>
              </a:rPr>
              <a:t>{{kpis.fecha_referencia_2}}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Museo Sans 500" panose="02000000000000000000" pitchFamily="50" charset="0"/>
                <a:cs typeface="Times New Roman" panose="02020603050405020304" pitchFamily="18" charset="0"/>
              </a:rPr>
              <a:t>Fecha de referencia: </a:t>
            </a:r>
            <a:r>
              <a:rPr lang="es-CL" sz="1000" b="1" kern="100" dirty="0">
                <a:solidFill>
                  <a:srgbClr val="8A8775"/>
                </a:solidFill>
                <a:latin typeface="Museo Sans 500" panose="02000000000000000000" pitchFamily="50" charset="0"/>
                <a:cs typeface="Times New Roman" panose="02020603050405020304" pitchFamily="18" charset="0"/>
              </a:rPr>
              <a:t>{{kpis.fecha_referencia_1}} </a:t>
            </a: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Hora del día</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Hora del día</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1293</TotalTime>
  <Words>896</Words>
  <Application>Microsoft Office PowerPoint</Application>
  <PresentationFormat>Personalizado</PresentationFormat>
  <Paragraphs>86</Paragraphs>
  <Slides>3</Slides>
  <Notes>0</Notes>
  <HiddenSlides>0</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3</vt:i4>
      </vt:variant>
    </vt:vector>
  </HeadingPairs>
  <TitlesOfParts>
    <vt:vector size="15" baseType="lpstr">
      <vt:lpstr>Aptos</vt:lpstr>
      <vt:lpstr>Aptos Display</vt:lpstr>
      <vt:lpstr>Arial</vt:lpstr>
      <vt:lpstr>Calibri</vt:lpstr>
      <vt:lpstr>Candara</vt:lpstr>
      <vt:lpstr>DM Sans</vt:lpstr>
      <vt:lpstr>gobCL</vt:lpstr>
      <vt:lpstr>Museo Sans 300</vt:lpstr>
      <vt:lpstr>Museo Sans 500</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124</cp:revision>
  <dcterms:created xsi:type="dcterms:W3CDTF">2026-03-11T19:15:10Z</dcterms:created>
  <dcterms:modified xsi:type="dcterms:W3CDTF">2026-03-31T18:54:37Z</dcterms:modified>
</cp:coreProperties>
</file>