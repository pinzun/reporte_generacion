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125" d="100"/>
          <a:sy n="125" d="100"/>
        </p:scale>
        <p:origin x="2500" y="-24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7T23:16:01.630" v="1522" actId="20577"/>
      <pc:docMkLst>
        <pc:docMk/>
      </pc:docMkLst>
      <pc:sldChg chg="addSp delSp modSp mod">
        <pc:chgData name="Pablo Inzunza" userId="be16ff5b34c21876" providerId="LiveId" clId="{CC6937A5-FA4E-485C-A7D4-0E92CAEDBC02}" dt="2026-03-27T23:16:01.630" v="1522" actId="20577"/>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7T23:15:59.165" v="1520" actId="20577"/>
          <ac:spMkLst>
            <pc:docMk/>
            <pc:sldMk cId="1567814596" sldId="256"/>
            <ac:spMk id="12" creationId="{C20A4FE8-703A-B4F6-E958-8947D382BD2C}"/>
          </ac:spMkLst>
        </pc:spChg>
        <pc:spChg chg="add mod">
          <ac:chgData name="Pablo Inzunza" userId="be16ff5b34c21876" providerId="LiveId" clId="{CC6937A5-FA4E-485C-A7D4-0E92CAEDBC02}" dt="2026-03-27T23:16:01.630" v="1522" actId="20577"/>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27-03-2026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27-03-2026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27-03-2026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27-03-2026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inenergia.sharepoint.com/sites/intranet2/Paginas/Reportes-del-Sistema-El%C3%A9ctrico.aspx#/tabs1"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5318059"/>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costo marginal promedio </a:t>
            </a:r>
            <a:r>
              <a:rPr lang="es-CL" sz="1200" dirty="0">
                <a:solidFill>
                  <a:srgbClr val="2C2E38"/>
                </a:solidFill>
                <a:latin typeface="DM Sans" pitchFamily="2" charset="0"/>
                <a:ea typeface="Calibri" panose="020F0502020204030204" pitchFamily="34" charset="0"/>
                <a:cs typeface="Calibri" panose="020F0502020204030204" pitchFamily="34" charset="0"/>
              </a:rPr>
              <a:t>durante este período fue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kpis.cmg_promedio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$/kWh, alcanzando su máximo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$/kWh en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kpis.cmg_max_mensual_periodo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promedio de spread </a:t>
            </a:r>
            <a:r>
              <a:rPr lang="es-CL" sz="1200" b="1" dirty="0" err="1">
                <a:solidFill>
                  <a:srgbClr val="2C2E38"/>
                </a:solidFill>
                <a:latin typeface="DM Sans" pitchFamily="2" charset="0"/>
                <a:ea typeface="Calibri" panose="020F0502020204030204" pitchFamily="34" charset="0"/>
                <a:cs typeface="Calibri" panose="020F0502020204030204" pitchFamily="34" charset="0"/>
              </a:rPr>
              <a:t>CMg</a:t>
            </a:r>
            <a:r>
              <a:rPr lang="es-CL" sz="1200" b="1" dirty="0">
                <a:solidFill>
                  <a:srgbClr val="2C2E38"/>
                </a:solidFill>
                <a:latin typeface="DM Sans" pitchFamily="2"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entre horas solares y no solares registró un máximo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kpis.cmg_spread_max_crucero</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en la barra Crucero 220kV , mientras que en la barra Puerto Montt 220kV el valor ascendió a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kpis.cmg_spread_max_p_montt</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801041"/>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a:t>
            </a:r>
            <a:r>
              <a:rPr lang="es-CL" sz="1200" b="1" dirty="0">
                <a:solidFill>
                  <a:srgbClr val="2C2E38"/>
                </a:solidFill>
                <a:latin typeface="DM Sans" pitchFamily="2" charset="0"/>
                <a:ea typeface="Calibri" panose="020F0502020204030204" pitchFamily="34" charset="0"/>
                <a:cs typeface="Calibri" panose="020F0502020204030204" pitchFamily="34" charset="0"/>
              </a:rPr>
              <a:t>energía renovable total reducida</a:t>
            </a:r>
            <a:r>
              <a:rPr lang="es-CL" sz="1200" dirty="0">
                <a:solidFill>
                  <a:srgbClr val="2C2E38"/>
                </a:solidFill>
                <a:latin typeface="DM Sans" pitchFamily="2" charset="0"/>
                <a:ea typeface="Calibri" panose="020F0502020204030204" pitchFamily="34" charset="0"/>
                <a:cs typeface="Calibri" panose="020F0502020204030204" pitchFamily="34" charset="0"/>
              </a:rPr>
              <a:t> asciende a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kpis.vert_total_mwh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err="1">
                <a:solidFill>
                  <a:srgbClr val="2C2E38"/>
                </a:solidFill>
                <a:latin typeface="DM Sans" pitchFamily="2" charset="0"/>
                <a:ea typeface="Calibri" panose="020F0502020204030204" pitchFamily="34" charset="0"/>
                <a:cs typeface="Calibri" panose="020F0502020204030204" pitchFamily="34" charset="0"/>
              </a:rPr>
              <a:t>MWh</a:t>
            </a:r>
            <a:r>
              <a:rPr lang="es-CL" sz="1200" dirty="0">
                <a:solidFill>
                  <a:srgbClr val="2C2E38"/>
                </a:solidFill>
                <a:latin typeface="DM Sans" pitchFamily="2" charset="0"/>
                <a:ea typeface="Calibri" panose="020F0502020204030204" pitchFamily="34" charset="0"/>
                <a:cs typeface="Calibri" panose="020F0502020204030204" pitchFamily="34" charset="0"/>
              </a:rPr>
              <a:t>, destacando el caso de la central solar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kpis.empresa_vert_max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que redujo sus inyecciones en un total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kpis.vert_empresa_vert_max</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durante el periodo de estudio.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kpis.cmg_promedio_clave</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kpis.cmg_spread_max_crucero</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kpis.vert_total_mwh_clave</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kpis.vert_empresa_vert_max</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Para dimensionar la evolución del fenómeno, se presentan dos perfiles diarios típicos de generación correspondientes a fechas de referencia distintas dentro del período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{{kpis.fecha_perfil_1}} </a:t>
            </a:r>
            <a:r>
              <a:rPr lang="es-CL" sz="1200" dirty="0">
                <a:solidFill>
                  <a:srgbClr val="2C2E38"/>
                </a:solidFill>
                <a:latin typeface="DM Sans" pitchFamily="2" charset="0"/>
                <a:ea typeface="Calibri" panose="020F0502020204030204" pitchFamily="34" charset="0"/>
                <a:cs typeface="Calibri" panose="020F0502020204030204" pitchFamily="34" charset="0"/>
              </a:rPr>
              <a:t>y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{{kpis.fecha_perfil_2}}— </a:t>
            </a:r>
            <a:r>
              <a:rPr lang="es-CL" sz="1200" dirty="0">
                <a:solidFill>
                  <a:srgbClr val="2C2E38"/>
                </a:solidFill>
                <a:latin typeface="DM Sans" pitchFamily="2" charset="0"/>
                <a:ea typeface="Calibri" panose="020F0502020204030204" pitchFamily="34" charset="0"/>
                <a:cs typeface="Calibri" panose="020F0502020204030204" pitchFamily="34" charset="0"/>
              </a:rPr>
              <a:t>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a:t>
            </a:r>
            <a:r>
              <a:rPr lang="es-CL" sz="1000" b="1" kern="100" dirty="0">
                <a:solidFill>
                  <a:srgbClr val="8A8775"/>
                </a:solidFill>
                <a:latin typeface="DM Mono" panose="020B0509040201040103" pitchFamily="49" charset="0"/>
                <a:cs typeface="Times New Roman" panose="02020603050405020304" pitchFamily="18" charset="0"/>
              </a:rPr>
              <a:t>{{kpis.fecha_referencia_2}}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a:t>
            </a:r>
            <a:r>
              <a:rPr lang="es-CL" sz="1000" b="1" kern="100" dirty="0">
                <a:solidFill>
                  <a:srgbClr val="8A8775"/>
                </a:solidFill>
                <a:latin typeface="DM Mono" panose="020B0509040201040103" pitchFamily="49" charset="0"/>
                <a:cs typeface="Times New Roman" panose="02020603050405020304" pitchFamily="18" charset="0"/>
              </a:rPr>
              <a:t>{{kpis.fecha_referencia_1}}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890</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2026-03-27T23:16:03Z</dcterms:modified>
</cp:coreProperties>
</file>