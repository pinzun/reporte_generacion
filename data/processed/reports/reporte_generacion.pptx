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3_12C69EF3.xml" ContentType="application/vnd.ms-powerpoint.comments+xml"/>
  <Override PartName="/ppt/comments/modernComment_101_4E999D4C.xml" ContentType="application/vnd.ms-powerpoint.comments+xml"/>
  <Override PartName="/ppt/comments/modernComment_100_5D72F3C4.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9" r:id="rId2"/>
    <p:sldId id="261" r:id="rId3"/>
    <p:sldId id="257" r:id="rId4"/>
    <p:sldId id="256" r:id="rId5"/>
    <p:sldId id="260" r:id="rId6"/>
  </p:sldIdLst>
  <p:sldSz cx="7772400" cy="97202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0E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808" autoAdjust="0"/>
    <p:restoredTop sz="94660"/>
  </p:normalViewPr>
  <p:slideViewPr>
    <p:cSldViewPr snapToGrid="0">
      <p:cViewPr>
        <p:scale>
          <a:sx n="75" d="100"/>
          <a:sy n="75" d="100"/>
        </p:scale>
        <p:origin x="2250"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microsoft.com/office/2018/10/relationships/authors" Target="authors.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omments/modernComment_100_5D72F3C4.xml><?xml version="1.0" encoding="utf-8"?>
<p188:cmLst xmlns:a="http://schemas.openxmlformats.org/drawingml/2006/main" xmlns:r="http://schemas.openxmlformats.org/officeDocument/2006/relationships" xmlns:p188="http://schemas.microsoft.com/office/powerpoint/2018/8/main">
  <p188:cm id="{C620BDF4-46A8-4845-8686-14BA4845A028}" authorId="{753DE3C9-1154-C860-D529-4EC0F397B11F}" created="2026-03-12T19:26:13.617">
    <ac:deMkLst xmlns:ac="http://schemas.microsoft.com/office/drawing/2013/main/command">
      <pc:docMk xmlns:pc="http://schemas.microsoft.com/office/powerpoint/2013/main/command"/>
      <pc:sldMk xmlns:pc="http://schemas.microsoft.com/office/powerpoint/2013/main/command" cId="1567814596" sldId="256"/>
      <ac:picMk id="25" creationId="{C67736CE-D603-7512-6F35-F233088E64DC}"/>
    </ac:deMkLst>
    <p188:replyLst>
      <p188:reply id="{2EC2D73D-F9BB-4907-9D31-EF5293D6C658}" authorId="{753DE3C9-1154-C860-D529-4EC0F397B11F}" created="2026-03-12T19:39:36.885">
        <p188:txBody>
          <a:bodyPr/>
          <a:lstStyle/>
          <a:p>
            <a:r>
              <a:rPr lang="es-CL"/>
              <a:t>Agregar gráficos para ver vertimientos del año anterior y participación BEES vs vertimiento
</a:t>
            </a:r>
          </a:p>
        </p188:txBody>
      </p188:reply>
    </p188:replyLst>
    <p188:txBody>
      <a:bodyPr/>
      <a:lstStyle/>
      <a:p>
        <a:r>
          <a:rPr lang="es-CL"/>
          <a:t>Enfocar el gráfico en el impacto de las baterías en el vertimiento</a:t>
        </a:r>
      </a:p>
    </p188:txBody>
  </p188:cm>
</p188:cmLst>
</file>

<file path=ppt/comments/modernComment_101_4E999D4C.xml><?xml version="1.0" encoding="utf-8"?>
<p188:cmLst xmlns:a="http://schemas.openxmlformats.org/drawingml/2006/main" xmlns:r="http://schemas.openxmlformats.org/officeDocument/2006/relationships" xmlns:p188="http://schemas.microsoft.com/office/powerpoint/2018/8/main">
  <p188:cm id="{68F127DB-D349-4FBE-8902-D773154F2176}" authorId="{753DE3C9-1154-C860-D529-4EC0F397B11F}" created="2026-03-12T19:16:36.286">
    <ac:deMkLst xmlns:ac="http://schemas.microsoft.com/office/drawing/2013/main/command">
      <pc:docMk xmlns:pc="http://schemas.microsoft.com/office/powerpoint/2013/main/command"/>
      <pc:sldMk xmlns:pc="http://schemas.microsoft.com/office/powerpoint/2013/main/command" cId="1318690124" sldId="257"/>
      <ac:picMk id="13" creationId="{0B59F865-B9DA-0A26-B0CD-3367BE92ED5C}"/>
    </ac:deMkLst>
    <p188:replyLst>
      <p188:reply id="{7040ACB5-D013-4A59-B2EF-BC5F40BB404F}" authorId="{753DE3C9-1154-C860-D529-4EC0F397B11F}" created="2026-03-12T19:17:24.096">
        <p188:txBody>
          <a:bodyPr/>
          <a:lstStyle/>
          <a:p>
            <a:r>
              <a:rPr lang="es-CL"/>
              <a:t>Además dejar solo 3 barras y generar comparativa con año anterior, utilizando líneas punteadas para año anterior y líneas solidas para año presente</a:t>
            </a:r>
          </a:p>
        </p188:txBody>
      </p188:reply>
    </p188:replyLst>
    <p188:txBody>
      <a:bodyPr/>
      <a:lstStyle/>
      <a:p>
        <a:r>
          <a:rPr lang="es-CL"/>
          <a:t>Invertir orden de gráficos, bajando este
</a:t>
        </a:r>
      </a:p>
    </p188:txBody>
  </p188:cm>
  <p188:cm id="{6B5E7784-AA1E-4F09-BC3D-98909BA6A9A1}" authorId="{753DE3C9-1154-C860-D529-4EC0F397B11F}" created="2026-03-12T19:45:01.576">
    <ac:deMkLst xmlns:ac="http://schemas.microsoft.com/office/drawing/2013/main/command">
      <pc:docMk xmlns:pc="http://schemas.microsoft.com/office/powerpoint/2013/main/command"/>
      <pc:sldMk xmlns:pc="http://schemas.microsoft.com/office/powerpoint/2013/main/command" cId="1318690124" sldId="257"/>
      <ac:spMk id="23" creationId="{EE7AE2C0-093D-032C-F70A-0527F37E3800}"/>
    </ac:deMkLst>
    <p188:txBody>
      <a:bodyPr/>
      <a:lstStyle/>
      <a:p>
        <a:r>
          <a:rPr lang="es-CL"/>
          <a:t>Spread postivo para el inversionista y la señal de precios a influido en disminuciones del vertimiento</a:t>
        </a:r>
      </a:p>
    </p188:txBody>
  </p188:cm>
</p188:cmLst>
</file>

<file path=ppt/comments/modernComment_103_12C69EF3.xml><?xml version="1.0" encoding="utf-8"?>
<p188:cmLst xmlns:a="http://schemas.openxmlformats.org/drawingml/2006/main" xmlns:r="http://schemas.openxmlformats.org/officeDocument/2006/relationships" xmlns:p188="http://schemas.microsoft.com/office/powerpoint/2018/8/main">
  <p188:cm id="{755DC307-B20B-4CA2-972E-1254E8CBDE94}" authorId="{753DE3C9-1154-C860-D529-4EC0F397B11F}" created="2026-03-12T19:16:23.503">
    <pc:sldMkLst xmlns:pc="http://schemas.microsoft.com/office/powerpoint/2013/main/command">
      <pc:docMk/>
      <pc:sldMk cId="315006707" sldId="259"/>
    </pc:sldMkLst>
    <p188:replyLst>
      <p188:reply id="{79756431-EE3D-43F6-AE6F-2A8BDDC9A33B}" authorId="{753DE3C9-1154-C860-D529-4EC0F397B11F}" created="2026-03-12T19:34:11.508">
        <p188:txBody>
          <a:bodyPr/>
          <a:lstStyle/>
          <a:p>
            <a:r>
              <a:rPr lang="es-CL"/>
              <a:t>Ver posibilidad de bajar la línea de BESS más cerca del eje
</a:t>
            </a:r>
          </a:p>
        </p188:txBody>
      </p188:reply>
    </p188:replyLst>
    <p188:txBody>
      <a:bodyPr/>
      <a:lstStyle/>
      <a:p>
        <a:r>
          <a:rPr lang="es-CL"/>
          <a:t>Para los indicadores claves poner número de referencia, la bajada</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582930" y="1590794"/>
            <a:ext cx="6606540" cy="3384092"/>
          </a:xfrm>
        </p:spPr>
        <p:txBody>
          <a:bodyPr anchor="b"/>
          <a:lstStyle>
            <a:lvl1pPr algn="ctr">
              <a:defRPr sz="51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971550" y="5105389"/>
            <a:ext cx="5829300" cy="2346813"/>
          </a:xfrm>
        </p:spPr>
        <p:txBody>
          <a:bodyPr/>
          <a:lstStyle>
            <a:lvl1pPr marL="0" indent="0" algn="ctr">
              <a:buNone/>
              <a:defRPr sz="2040"/>
            </a:lvl1pPr>
            <a:lvl2pPr marL="388620" indent="0" algn="ctr">
              <a:buNone/>
              <a:defRPr sz="1700"/>
            </a:lvl2pPr>
            <a:lvl3pPr marL="777240" indent="0" algn="ctr">
              <a:buNone/>
              <a:defRPr sz="1530"/>
            </a:lvl3pPr>
            <a:lvl4pPr marL="1165860" indent="0" algn="ctr">
              <a:buNone/>
              <a:defRPr sz="1360"/>
            </a:lvl4pPr>
            <a:lvl5pPr marL="1554480" indent="0" algn="ctr">
              <a:buNone/>
              <a:defRPr sz="1360"/>
            </a:lvl5pPr>
            <a:lvl6pPr marL="1943100" indent="0" algn="ctr">
              <a:buNone/>
              <a:defRPr sz="1360"/>
            </a:lvl6pPr>
            <a:lvl7pPr marL="2331720" indent="0" algn="ctr">
              <a:buNone/>
              <a:defRPr sz="1360"/>
            </a:lvl7pPr>
            <a:lvl8pPr marL="2720340" indent="0" algn="ctr">
              <a:buNone/>
              <a:defRPr sz="1360"/>
            </a:lvl8pPr>
            <a:lvl9pPr marL="3108960" indent="0" algn="ctr">
              <a:buNone/>
              <a:defRPr sz="136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12-03-2026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095996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12-03-2026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36363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530305" y="2423318"/>
            <a:ext cx="6703695" cy="4043359"/>
          </a:xfrm>
        </p:spPr>
        <p:txBody>
          <a:bodyPr anchor="b"/>
          <a:lstStyle>
            <a:lvl1pPr>
              <a:defRPr sz="51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530305" y="6504929"/>
            <a:ext cx="6703695" cy="2126307"/>
          </a:xfrm>
        </p:spPr>
        <p:txBody>
          <a:bodyPr/>
          <a:lstStyle>
            <a:lvl1pPr marL="0" indent="0">
              <a:buNone/>
              <a:defRPr sz="2040">
                <a:solidFill>
                  <a:schemeClr val="tx1">
                    <a:tint val="82000"/>
                  </a:schemeClr>
                </a:solidFill>
              </a:defRPr>
            </a:lvl1pPr>
            <a:lvl2pPr marL="388620" indent="0">
              <a:buNone/>
              <a:defRPr sz="1700">
                <a:solidFill>
                  <a:schemeClr val="tx1">
                    <a:tint val="82000"/>
                  </a:schemeClr>
                </a:solidFill>
              </a:defRPr>
            </a:lvl2pPr>
            <a:lvl3pPr marL="777240" indent="0">
              <a:buNone/>
              <a:defRPr sz="1530">
                <a:solidFill>
                  <a:schemeClr val="tx1">
                    <a:tint val="82000"/>
                  </a:schemeClr>
                </a:solidFill>
              </a:defRPr>
            </a:lvl3pPr>
            <a:lvl4pPr marL="1165860" indent="0">
              <a:buNone/>
              <a:defRPr sz="1360">
                <a:solidFill>
                  <a:schemeClr val="tx1">
                    <a:tint val="82000"/>
                  </a:schemeClr>
                </a:solidFill>
              </a:defRPr>
            </a:lvl4pPr>
            <a:lvl5pPr marL="1554480" indent="0">
              <a:buNone/>
              <a:defRPr sz="1360">
                <a:solidFill>
                  <a:schemeClr val="tx1">
                    <a:tint val="82000"/>
                  </a:schemeClr>
                </a:solidFill>
              </a:defRPr>
            </a:lvl5pPr>
            <a:lvl6pPr marL="1943100" indent="0">
              <a:buNone/>
              <a:defRPr sz="1360">
                <a:solidFill>
                  <a:schemeClr val="tx1">
                    <a:tint val="82000"/>
                  </a:schemeClr>
                </a:solidFill>
              </a:defRPr>
            </a:lvl6pPr>
            <a:lvl7pPr marL="2331720" indent="0">
              <a:buNone/>
              <a:defRPr sz="1360">
                <a:solidFill>
                  <a:schemeClr val="tx1">
                    <a:tint val="82000"/>
                  </a:schemeClr>
                </a:solidFill>
              </a:defRPr>
            </a:lvl7pPr>
            <a:lvl8pPr marL="2720340" indent="0">
              <a:buNone/>
              <a:defRPr sz="1360">
                <a:solidFill>
                  <a:schemeClr val="tx1">
                    <a:tint val="82000"/>
                  </a:schemeClr>
                </a:solidFill>
              </a:defRPr>
            </a:lvl8pPr>
            <a:lvl9pPr marL="3108960" indent="0">
              <a:buNone/>
              <a:defRPr sz="1360">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12-03-2026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109349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534353" y="2587570"/>
            <a:ext cx="3303270" cy="616741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3934778" y="2587570"/>
            <a:ext cx="3303270" cy="616741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12-03-2026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2650583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535365" y="517516"/>
            <a:ext cx="6703695" cy="1878802"/>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535366" y="2382815"/>
            <a:ext cx="3288089" cy="1167781"/>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s-MX"/>
              <a:t>Haga clic para modificar los estilos de texto del patrón</a:t>
            </a:r>
          </a:p>
        </p:txBody>
      </p:sp>
      <p:sp>
        <p:nvSpPr>
          <p:cNvPr id="4" name="Content Placeholder 3"/>
          <p:cNvSpPr>
            <a:spLocks noGrp="1"/>
          </p:cNvSpPr>
          <p:nvPr>
            <p:ph sz="half" idx="2"/>
          </p:nvPr>
        </p:nvSpPr>
        <p:spPr>
          <a:xfrm>
            <a:off x="535366" y="3550596"/>
            <a:ext cx="3288089" cy="522239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3934778" y="2382815"/>
            <a:ext cx="3304282" cy="1167781"/>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s-MX"/>
              <a:t>Haga clic para modificar los estilos de texto del patrón</a:t>
            </a:r>
          </a:p>
        </p:txBody>
      </p:sp>
      <p:sp>
        <p:nvSpPr>
          <p:cNvPr id="6" name="Content Placeholder 5"/>
          <p:cNvSpPr>
            <a:spLocks noGrp="1"/>
          </p:cNvSpPr>
          <p:nvPr>
            <p:ph sz="quarter" idx="4"/>
          </p:nvPr>
        </p:nvSpPr>
        <p:spPr>
          <a:xfrm>
            <a:off x="3934778" y="3550596"/>
            <a:ext cx="3304282" cy="522239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12-03-2026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6863579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12-03-2026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696626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12-03-2026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652549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535365" y="648018"/>
            <a:ext cx="2506801" cy="2268061"/>
          </a:xfrm>
        </p:spPr>
        <p:txBody>
          <a:bodyPr anchor="b"/>
          <a:lstStyle>
            <a:lvl1pPr>
              <a:defRPr sz="2720"/>
            </a:lvl1pPr>
          </a:lstStyle>
          <a:p>
            <a:r>
              <a:rPr lang="es-MX"/>
              <a:t>Haz clic para modificar el estilo de título del patrón</a:t>
            </a:r>
            <a:endParaRPr lang="en-US" dirty="0"/>
          </a:p>
        </p:txBody>
      </p:sp>
      <p:sp>
        <p:nvSpPr>
          <p:cNvPr id="3" name="Content Placeholder 2"/>
          <p:cNvSpPr>
            <a:spLocks noGrp="1"/>
          </p:cNvSpPr>
          <p:nvPr>
            <p:ph idx="1"/>
          </p:nvPr>
        </p:nvSpPr>
        <p:spPr>
          <a:xfrm>
            <a:off x="3304282" y="1399540"/>
            <a:ext cx="3934778" cy="6907687"/>
          </a:xfrm>
        </p:spPr>
        <p:txBody>
          <a:bodyPr/>
          <a:lstStyle>
            <a:lvl1pPr>
              <a:defRPr sz="2720"/>
            </a:lvl1pPr>
            <a:lvl2pPr>
              <a:defRPr sz="2380"/>
            </a:lvl2pPr>
            <a:lvl3pPr>
              <a:defRPr sz="2040"/>
            </a:lvl3pPr>
            <a:lvl4pPr>
              <a:defRPr sz="1700"/>
            </a:lvl4pPr>
            <a:lvl5pPr>
              <a:defRPr sz="1700"/>
            </a:lvl5pPr>
            <a:lvl6pPr>
              <a:defRPr sz="1700"/>
            </a:lvl6pPr>
            <a:lvl7pPr>
              <a:defRPr sz="1700"/>
            </a:lvl7pPr>
            <a:lvl8pPr>
              <a:defRPr sz="1700"/>
            </a:lvl8pPr>
            <a:lvl9pPr>
              <a:defRPr sz="17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535365" y="2916079"/>
            <a:ext cx="2506801" cy="5402397"/>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12-03-2026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73757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535365" y="648018"/>
            <a:ext cx="2506801" cy="2268061"/>
          </a:xfrm>
        </p:spPr>
        <p:txBody>
          <a:bodyPr anchor="b"/>
          <a:lstStyle>
            <a:lvl1pPr>
              <a:defRPr sz="272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3304282" y="1399540"/>
            <a:ext cx="3934778" cy="6907687"/>
          </a:xfrm>
        </p:spPr>
        <p:txBody>
          <a:bodyPr anchor="t"/>
          <a:lstStyle>
            <a:lvl1pPr marL="0" indent="0">
              <a:buNone/>
              <a:defRPr sz="2720"/>
            </a:lvl1pPr>
            <a:lvl2pPr marL="388620" indent="0">
              <a:buNone/>
              <a:defRPr sz="2380"/>
            </a:lvl2pPr>
            <a:lvl3pPr marL="777240" indent="0">
              <a:buNone/>
              <a:defRPr sz="2040"/>
            </a:lvl3pPr>
            <a:lvl4pPr marL="1165860" indent="0">
              <a:buNone/>
              <a:defRPr sz="1700"/>
            </a:lvl4pPr>
            <a:lvl5pPr marL="1554480" indent="0">
              <a:buNone/>
              <a:defRPr sz="1700"/>
            </a:lvl5pPr>
            <a:lvl6pPr marL="1943100" indent="0">
              <a:buNone/>
              <a:defRPr sz="1700"/>
            </a:lvl6pPr>
            <a:lvl7pPr marL="2331720" indent="0">
              <a:buNone/>
              <a:defRPr sz="1700"/>
            </a:lvl7pPr>
            <a:lvl8pPr marL="2720340" indent="0">
              <a:buNone/>
              <a:defRPr sz="1700"/>
            </a:lvl8pPr>
            <a:lvl9pPr marL="3108960" indent="0">
              <a:buNone/>
              <a:defRPr sz="1700"/>
            </a:lvl9pPr>
          </a:lstStyle>
          <a:p>
            <a:r>
              <a:rPr lang="es-MX"/>
              <a:t>Haz clic en el icono para agregar una imagen</a:t>
            </a:r>
            <a:endParaRPr lang="en-US" dirty="0"/>
          </a:p>
        </p:txBody>
      </p:sp>
      <p:sp>
        <p:nvSpPr>
          <p:cNvPr id="4" name="Text Placeholder 3"/>
          <p:cNvSpPr>
            <a:spLocks noGrp="1"/>
          </p:cNvSpPr>
          <p:nvPr>
            <p:ph type="body" sz="half" idx="2"/>
          </p:nvPr>
        </p:nvSpPr>
        <p:spPr>
          <a:xfrm>
            <a:off x="535365" y="2916079"/>
            <a:ext cx="2506801" cy="5402397"/>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12-03-2026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0046228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12-03-2026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570880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62124" y="517514"/>
            <a:ext cx="1675924" cy="8237474"/>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534353" y="517514"/>
            <a:ext cx="4930616" cy="8237474"/>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12-03-2026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351413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34353" y="517516"/>
            <a:ext cx="6703695" cy="1878802"/>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534353" y="2587570"/>
            <a:ext cx="6703695" cy="616741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534353" y="9009246"/>
            <a:ext cx="1748790" cy="517514"/>
          </a:xfrm>
          <a:prstGeom prst="rect">
            <a:avLst/>
          </a:prstGeom>
        </p:spPr>
        <p:txBody>
          <a:bodyPr vert="horz" lIns="91440" tIns="45720" rIns="91440" bIns="45720" rtlCol="0" anchor="ctr"/>
          <a:lstStyle>
            <a:lvl1pPr algn="l">
              <a:defRPr sz="1020">
                <a:solidFill>
                  <a:schemeClr val="tx1">
                    <a:tint val="82000"/>
                  </a:schemeClr>
                </a:solidFill>
              </a:defRPr>
            </a:lvl1pPr>
          </a:lstStyle>
          <a:p>
            <a:fld id="{C1175F80-2F39-40DD-909D-7A02119CCA88}" type="datetimeFigureOut">
              <a:rPr lang="es-CL" smtClean="0"/>
              <a:t>12-03-2026</a:t>
            </a:fld>
            <a:endParaRPr lang="es-CL"/>
          </a:p>
        </p:txBody>
      </p:sp>
      <p:sp>
        <p:nvSpPr>
          <p:cNvPr id="5" name="Footer Placeholder 4"/>
          <p:cNvSpPr>
            <a:spLocks noGrp="1"/>
          </p:cNvSpPr>
          <p:nvPr>
            <p:ph type="ftr" sz="quarter" idx="3"/>
          </p:nvPr>
        </p:nvSpPr>
        <p:spPr>
          <a:xfrm>
            <a:off x="2574608" y="9009246"/>
            <a:ext cx="2623185" cy="517514"/>
          </a:xfrm>
          <a:prstGeom prst="rect">
            <a:avLst/>
          </a:prstGeom>
        </p:spPr>
        <p:txBody>
          <a:bodyPr vert="horz" lIns="91440" tIns="45720" rIns="91440" bIns="45720" rtlCol="0" anchor="ctr"/>
          <a:lstStyle>
            <a:lvl1pPr algn="ctr">
              <a:defRPr sz="1020">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5489258" y="9009246"/>
            <a:ext cx="1748790" cy="517514"/>
          </a:xfrm>
          <a:prstGeom prst="rect">
            <a:avLst/>
          </a:prstGeom>
        </p:spPr>
        <p:txBody>
          <a:bodyPr vert="horz" lIns="91440" tIns="45720" rIns="91440" bIns="45720" rtlCol="0" anchor="ctr"/>
          <a:lstStyle>
            <a:lvl1pPr algn="r">
              <a:defRPr sz="1020">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5853491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file:///C:\Users\pinzunza\projectos_codigos\analisis_vertimiento\data\processed\images\gx_tipico.svg" TargetMode="External"/><Relationship Id="rId2" Type="http://schemas.microsoft.com/office/2018/10/relationships/comments" Target="../comments/modernComment_103_12C69EF3.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file:///C:\Users\pinzunza\projectos_codigos\analisis_vertimiento\data\processed\images\gx_tipico.svg" TargetMode="External"/><Relationship Id="rId3" Type="http://schemas.openxmlformats.org/officeDocument/2006/relationships/image" Target="../media/image2.png"/><Relationship Id="rId7" Type="http://schemas.openxmlformats.org/officeDocument/2006/relationships/image" Target="../media/image4.sv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file:///C:\Users\pinzunza\projectos_codigos\analisis_vertimiento\data\processed\images\cmg.svg" TargetMode="Externa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1.png"/><Relationship Id="rId7" Type="http://schemas.openxmlformats.org/officeDocument/2006/relationships/image" Target="../media/image6.png"/><Relationship Id="rId2" Type="http://schemas.microsoft.com/office/2018/10/relationships/comments" Target="../comments/modernComment_101_4E999D4C.xml"/><Relationship Id="rId1" Type="http://schemas.openxmlformats.org/officeDocument/2006/relationships/slideLayout" Target="../slideLayouts/slideLayout1.xml"/><Relationship Id="rId6" Type="http://schemas.openxmlformats.org/officeDocument/2006/relationships/image" Target="file:///C:\Users\pinzunza\projectos_codigos\analisis_vertimiento\data\processed\images\cmg.svg" TargetMode="External"/><Relationship Id="rId5"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file:///C:\Users\pinzunza\projectos_codigos\analisis_vertimiento\data\processed\images\boxplot.svg" TargetMode="External"/><Relationship Id="rId2" Type="http://schemas.microsoft.com/office/2018/10/relationships/comments" Target="../comments/modernComment_100_5D72F3C4.xml"/><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8C91C574-6856-B273-0044-0652910EB494}"/>
              </a:ext>
            </a:extLst>
          </p:cNvPr>
          <p:cNvPicPr>
            <a:picLocks noGrp="1" noRot="1" noChangeAspect="1" noMove="1" noResize="1" noEditPoints="1" noAdjustHandles="1" noChangeArrowheads="1" noChangeShapeType="1" noCrop="1"/>
          </p:cNvPicPr>
          <p:nvPr/>
        </p:nvPicPr>
        <p:blipFill rotWithShape="1">
          <a:blip r:embed="rId3" cstate="print">
            <a:extLst>
              <a:ext uri="{28A0092B-C50C-407E-A947-70E740481C1C}">
                <a14:useLocalDpi xmlns:a14="http://schemas.microsoft.com/office/drawing/2010/main" val="0"/>
              </a:ext>
            </a:extLst>
          </a:blip>
          <a:srcRect l="25875" t="-3385" r="25875" b="6771"/>
          <a:stretch/>
        </p:blipFill>
        <p:spPr>
          <a:xfrm>
            <a:off x="15737" y="-352900"/>
            <a:ext cx="7772400" cy="10073163"/>
          </a:xfrm>
          <a:prstGeom prst="rect">
            <a:avLst/>
          </a:prstGeom>
        </p:spPr>
      </p:pic>
      <p:sp>
        <p:nvSpPr>
          <p:cNvPr id="23" name="Rectángulo: esquinas redondeadas 22">
            <a:extLst>
              <a:ext uri="{FF2B5EF4-FFF2-40B4-BE49-F238E27FC236}">
                <a16:creationId xmlns:a16="http://schemas.microsoft.com/office/drawing/2014/main" id="{EE7AE2C0-093D-032C-F70A-0527F37E3800}"/>
              </a:ext>
            </a:extLst>
          </p:cNvPr>
          <p:cNvSpPr/>
          <p:nvPr/>
        </p:nvSpPr>
        <p:spPr>
          <a:xfrm>
            <a:off x="268271" y="4747367"/>
            <a:ext cx="7020893" cy="423470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15737" y="-36076"/>
            <a:ext cx="7803874" cy="1335958"/>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endParaRPr lang="es-CL" sz="1800" b="1" kern="100" dirty="0">
              <a:effectLst/>
              <a:latin typeface="Segoe UI" panose="020B0502040204020203" pitchFamily="34" charset="0"/>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6219190" y="107426"/>
            <a:ext cx="1163320" cy="1056640"/>
          </a:xfrm>
          <a:prstGeom prst="rect">
            <a:avLst/>
          </a:prstGeom>
        </p:spPr>
      </p:pic>
      <p:sp>
        <p:nvSpPr>
          <p:cNvPr id="7" name="Rectángulo: esquinas redondeadas 6">
            <a:extLst>
              <a:ext uri="{FF2B5EF4-FFF2-40B4-BE49-F238E27FC236}">
                <a16:creationId xmlns:a16="http://schemas.microsoft.com/office/drawing/2014/main" id="{C9573602-0474-D172-31A6-26B9F532907B}"/>
              </a:ext>
            </a:extLst>
          </p:cNvPr>
          <p:cNvSpPr/>
          <p:nvPr/>
        </p:nvSpPr>
        <p:spPr>
          <a:xfrm>
            <a:off x="138416" y="1837247"/>
            <a:ext cx="3420773" cy="2770813"/>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8" name="Rectángulo: esquinas redondeadas 7">
            <a:extLst>
              <a:ext uri="{FF2B5EF4-FFF2-40B4-BE49-F238E27FC236}">
                <a16:creationId xmlns:a16="http://schemas.microsoft.com/office/drawing/2014/main" id="{27754513-6BFD-3F3B-9EC6-6F6B9277BCF9}"/>
              </a:ext>
            </a:extLst>
          </p:cNvPr>
          <p:cNvSpPr/>
          <p:nvPr/>
        </p:nvSpPr>
        <p:spPr>
          <a:xfrm>
            <a:off x="488439" y="2239582"/>
            <a:ext cx="1323340" cy="321945"/>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0" name="Rectángulo: esquinas redondeadas 9">
            <a:extLst>
              <a:ext uri="{FF2B5EF4-FFF2-40B4-BE49-F238E27FC236}">
                <a16:creationId xmlns:a16="http://schemas.microsoft.com/office/drawing/2014/main" id="{B94141C6-AF0A-5EEE-E06A-C7ADAD832418}"/>
              </a:ext>
            </a:extLst>
          </p:cNvPr>
          <p:cNvSpPr/>
          <p:nvPr/>
        </p:nvSpPr>
        <p:spPr>
          <a:xfrm>
            <a:off x="490773" y="2638943"/>
            <a:ext cx="1323340" cy="321945"/>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1" name="Rectángulo: esquinas redondeadas 10">
            <a:extLst>
              <a:ext uri="{FF2B5EF4-FFF2-40B4-BE49-F238E27FC236}">
                <a16:creationId xmlns:a16="http://schemas.microsoft.com/office/drawing/2014/main" id="{3DB16137-132D-DC43-4F47-12244820A1BC}"/>
              </a:ext>
            </a:extLst>
          </p:cNvPr>
          <p:cNvSpPr/>
          <p:nvPr/>
        </p:nvSpPr>
        <p:spPr>
          <a:xfrm>
            <a:off x="2053480" y="2656530"/>
            <a:ext cx="1254760" cy="321945"/>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2" name="Rectángulo: esquinas redondeadas 11">
            <a:extLst>
              <a:ext uri="{FF2B5EF4-FFF2-40B4-BE49-F238E27FC236}">
                <a16:creationId xmlns:a16="http://schemas.microsoft.com/office/drawing/2014/main" id="{6DF63626-AF1A-9CCF-D0D4-40D356371807}"/>
              </a:ext>
            </a:extLst>
          </p:cNvPr>
          <p:cNvSpPr/>
          <p:nvPr/>
        </p:nvSpPr>
        <p:spPr>
          <a:xfrm>
            <a:off x="2061061" y="2219250"/>
            <a:ext cx="1254760" cy="321945"/>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5" name="Rectángulo: esquinas redondeadas 14">
            <a:extLst>
              <a:ext uri="{FF2B5EF4-FFF2-40B4-BE49-F238E27FC236}">
                <a16:creationId xmlns:a16="http://schemas.microsoft.com/office/drawing/2014/main" id="{30B24A05-B4F3-EB92-8A27-285D6078E0F7}"/>
              </a:ext>
            </a:extLst>
          </p:cNvPr>
          <p:cNvSpPr/>
          <p:nvPr/>
        </p:nvSpPr>
        <p:spPr>
          <a:xfrm>
            <a:off x="3771224" y="1837246"/>
            <a:ext cx="3494376" cy="281303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6" name="Rectángulo: esquinas redondeadas 15">
            <a:extLst>
              <a:ext uri="{FF2B5EF4-FFF2-40B4-BE49-F238E27FC236}">
                <a16:creationId xmlns:a16="http://schemas.microsoft.com/office/drawing/2014/main" id="{11D6CE6B-C138-890F-DD24-5758D93A9B9C}"/>
              </a:ext>
            </a:extLst>
          </p:cNvPr>
          <p:cNvSpPr/>
          <p:nvPr/>
        </p:nvSpPr>
        <p:spPr>
          <a:xfrm>
            <a:off x="4157980" y="2496857"/>
            <a:ext cx="1424940" cy="308610"/>
          </a:xfrm>
          <a:prstGeom prst="roundRect">
            <a:avLst/>
          </a:prstGeom>
          <a:solidFill>
            <a:srgbClr val="FBFDFF"/>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20" name="CuadroTexto 19">
            <a:extLst>
              <a:ext uri="{FF2B5EF4-FFF2-40B4-BE49-F238E27FC236}">
                <a16:creationId xmlns:a16="http://schemas.microsoft.com/office/drawing/2014/main" id="{D074A6F0-4B53-95B0-A880-60470F1EA1FC}"/>
              </a:ext>
            </a:extLst>
          </p:cNvPr>
          <p:cNvSpPr txBox="1"/>
          <p:nvPr/>
        </p:nvSpPr>
        <p:spPr>
          <a:xfrm>
            <a:off x="-378648" y="227529"/>
            <a:ext cx="5070159" cy="392608"/>
          </a:xfrm>
          <a:prstGeom prst="rect">
            <a:avLst/>
          </a:prstGeom>
          <a:noFill/>
        </p:spPr>
        <p:txBody>
          <a:bodyPr wrap="square" rtlCol="0">
            <a:spAutoFit/>
          </a:bodyPr>
          <a:lstStyle/>
          <a:p>
            <a:pPr marL="630555">
              <a:lnSpc>
                <a:spcPct val="115000"/>
              </a:lnSpc>
              <a:spcAft>
                <a:spcPts val="800"/>
              </a:spcAft>
            </a:pPr>
            <a:r>
              <a:rPr lang="es-CL" sz="1800" b="1" kern="100" dirty="0">
                <a:solidFill>
                  <a:schemeClr val="bg1"/>
                </a:solidFill>
                <a:effectLst/>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ffectLst/>
              <a:ea typeface="Aptos" panose="020B000402020202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4C24B7D0-229A-B8F3-DAA3-3D947D0AC2C7}"/>
              </a:ext>
            </a:extLst>
          </p:cNvPr>
          <p:cNvSpPr txBox="1"/>
          <p:nvPr/>
        </p:nvSpPr>
        <p:spPr>
          <a:xfrm>
            <a:off x="-355976" y="555280"/>
            <a:ext cx="3874218" cy="566565"/>
          </a:xfrm>
          <a:prstGeom prst="rect">
            <a:avLst/>
          </a:prstGeom>
          <a:noFill/>
        </p:spPr>
        <p:txBody>
          <a:bodyPr wrap="square" rtlCol="0">
            <a:spAutoFit/>
          </a:bodyPr>
          <a:lstStyle/>
          <a:p>
            <a:pPr marL="630555">
              <a:lnSpc>
                <a:spcPct val="115000"/>
              </a:lnSpc>
              <a:spcAft>
                <a:spcPts val="800"/>
              </a:spcAft>
            </a:pPr>
            <a:r>
              <a:rPr lang="es-CL" sz="1400" b="1" kern="100" dirty="0">
                <a:solidFill>
                  <a:schemeClr val="bg1"/>
                </a:solidFill>
                <a:latin typeface="Segoe UI" panose="020B0502040204020203" pitchFamily="34" charset="0"/>
                <a:cs typeface="Times New Roman" panose="02020603050405020304" pitchFamily="18" charset="0"/>
              </a:rPr>
              <a:t>Periodo</a:t>
            </a:r>
            <a:r>
              <a:rPr lang="es-CL" sz="1400" b="1" kern="100" dirty="0">
                <a:effectLst/>
                <a:latin typeface="Segoe UI" panose="020B0502040204020203" pitchFamily="34" charset="0"/>
                <a:ea typeface="Aptos" panose="020B0004020202020204" pitchFamily="34" charset="0"/>
                <a:cs typeface="Times New Roman" panose="02020603050405020304" pitchFamily="18" charset="0"/>
              </a:rPr>
              <a:t> </a:t>
            </a:r>
            <a:r>
              <a:rPr lang="es-CL" sz="1400" b="1" kern="100" dirty="0">
                <a:solidFill>
                  <a:schemeClr val="bg1"/>
                </a:solidFill>
                <a:latin typeface="Segoe UI" panose="020B0502040204020203" pitchFamily="34" charset="0"/>
                <a:cs typeface="Times New Roman" panose="02020603050405020304" pitchFamily="18" charset="0"/>
              </a:rPr>
              <a:t>de estudio</a:t>
            </a:r>
            <a:br>
              <a:rPr lang="es-CL" sz="1400" b="1" kern="100" dirty="0">
                <a:solidFill>
                  <a:schemeClr val="bg1"/>
                </a:solidFill>
                <a:latin typeface="Segoe UI" panose="020B0502040204020203" pitchFamily="34" charset="0"/>
                <a:cs typeface="Times New Roman" panose="02020603050405020304" pitchFamily="18" charset="0"/>
              </a:rPr>
            </a:br>
            <a:r>
              <a:rPr lang="es-CL" sz="1400" b="1" kern="100" dirty="0">
                <a:solidFill>
                  <a:schemeClr val="bg1"/>
                </a:solidFill>
                <a:latin typeface="Segoe UI" panose="020B0502040204020203" pitchFamily="34" charset="0"/>
                <a:cs typeface="Times New Roman" panose="02020603050405020304" pitchFamily="18" charset="0"/>
              </a:rPr>
              <a:t>2024-01 → 2024-12                                           </a:t>
            </a:r>
          </a:p>
        </p:txBody>
      </p:sp>
      <p:sp>
        <p:nvSpPr>
          <p:cNvPr id="2" name="CuadroTexto 1">
            <a:extLst>
              <a:ext uri="{FF2B5EF4-FFF2-40B4-BE49-F238E27FC236}">
                <a16:creationId xmlns:a16="http://schemas.microsoft.com/office/drawing/2014/main" id="{805E9EFF-9DE1-C7E9-5893-DD7195680F49}"/>
              </a:ext>
            </a:extLst>
          </p:cNvPr>
          <p:cNvSpPr txBox="1"/>
          <p:nvPr/>
        </p:nvSpPr>
        <p:spPr>
          <a:xfrm>
            <a:off x="3901937" y="1830871"/>
            <a:ext cx="3218262" cy="3000821"/>
          </a:xfrm>
          <a:prstGeom prst="rect">
            <a:avLst/>
          </a:prstGeom>
          <a:noFill/>
        </p:spPr>
        <p:txBody>
          <a:bodyPr wrap="square" rtlCol="0">
            <a:spAutoFit/>
          </a:bodyPr>
          <a:lstStyle/>
          <a:p>
            <a:pPr algn="just"/>
            <a:endParaRPr lang="es-CL" sz="900" dirty="0">
              <a:latin typeface="Calibri" panose="020F0502020204030204" pitchFamily="34" charset="0"/>
              <a:ea typeface="Calibri" panose="020F0502020204030204" pitchFamily="34" charset="0"/>
              <a:cs typeface="Calibri" panose="020F0502020204030204" pitchFamily="34" charset="0"/>
            </a:endParaRPr>
          </a:p>
          <a:p>
            <a:pPr algn="just"/>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Por su parte, el costo marginal promedio durante este periodo fue de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kpis.cmg_promedio</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$/kWh, alcanzando un máximo mensual de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kpis.cmg_max_mensual</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$/kWh en el mes de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kpis.cmg_max_mensual_periodo</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con un spread de CMG máximo de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kpis.cmg_spread_max_charrua</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$/kWh en la barra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Charrua</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500 kV entre los valores de horas solares y horas no solares registrado el día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kpis.dia_cmg_spread_max_periodo_charrua</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a:t>
            </a:r>
            <a:endPar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endParaRPr>
          </a:p>
          <a:p>
            <a:pPr algn="just"/>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Mientras que para la barra Puerto Montt 220 kV el valor asciende a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kpis.dia_cmg_spread_max_periodo_p_montt</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producido el día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kpis.dia_cmg_spread_max_periodo_charrua</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a:t>
            </a:r>
            <a:endPar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endParaRPr>
          </a:p>
          <a:p>
            <a:pPr algn="just"/>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Al igual que en periodos anteriores, las mayores desviaciones de Costos Marginales se originan en la barra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kpis.barra_cmg_spread_max</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del nodo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kpis.nodo_cmg_spread_max</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lo que reafirma la tendencia al desacople económico entre los subsistemas centro-norte y sur.</a:t>
            </a:r>
            <a:endPar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endParaRPr>
          </a:p>
          <a:p>
            <a:endParaRPr lang="es-CL" dirty="0"/>
          </a:p>
        </p:txBody>
      </p:sp>
      <p:sp>
        <p:nvSpPr>
          <p:cNvPr id="22" name="CuadroTexto 21">
            <a:extLst>
              <a:ext uri="{FF2B5EF4-FFF2-40B4-BE49-F238E27FC236}">
                <a16:creationId xmlns:a16="http://schemas.microsoft.com/office/drawing/2014/main" id="{C3DE91E4-B638-A3E9-761B-B57DC14FC8AD}"/>
              </a:ext>
            </a:extLst>
          </p:cNvPr>
          <p:cNvSpPr txBox="1">
            <a:spLocks noGrp="1" noRot="1" noMove="1" noResize="1" noEditPoints="1" noAdjustHandles="1" noChangeArrowheads="1" noChangeShapeType="1"/>
          </p:cNvSpPr>
          <p:nvPr/>
        </p:nvSpPr>
        <p:spPr>
          <a:xfrm>
            <a:off x="239672" y="1415849"/>
            <a:ext cx="1820875" cy="369332"/>
          </a:xfrm>
          <a:prstGeom prst="rect">
            <a:avLst/>
          </a:prstGeom>
          <a:noFill/>
        </p:spPr>
        <p:txBody>
          <a:bodyPr wrap="square" rtlCol="0">
            <a:spAutoFit/>
          </a:bodyPr>
          <a:lstStyle/>
          <a:p>
            <a:r>
              <a:rPr lang="es-CL" sz="1400" b="1" kern="100" dirty="0">
                <a:solidFill>
                  <a:srgbClr val="002060"/>
                </a:solidFill>
                <a:latin typeface="Segoe UI" panose="020B0502040204020203" pitchFamily="34" charset="0"/>
                <a:cs typeface="Times New Roman" panose="02020603050405020304" pitchFamily="18" charset="0"/>
              </a:rPr>
              <a:t>Resumen</a:t>
            </a:r>
            <a:r>
              <a:rPr lang="es-CL" dirty="0"/>
              <a:t> </a:t>
            </a:r>
            <a:r>
              <a:rPr lang="es-CL" sz="1400" b="1" kern="100" dirty="0">
                <a:solidFill>
                  <a:srgbClr val="002060"/>
                </a:solidFill>
                <a:latin typeface="Segoe UI" panose="020B0502040204020203" pitchFamily="34" charset="0"/>
                <a:cs typeface="Times New Roman" panose="02020603050405020304" pitchFamily="18" charset="0"/>
              </a:rPr>
              <a:t>ejecutivo</a:t>
            </a:r>
          </a:p>
        </p:txBody>
      </p:sp>
      <p:cxnSp>
        <p:nvCxnSpPr>
          <p:cNvPr id="24" name="Conector recto 23">
            <a:extLst>
              <a:ext uri="{FF2B5EF4-FFF2-40B4-BE49-F238E27FC236}">
                <a16:creationId xmlns:a16="http://schemas.microsoft.com/office/drawing/2014/main" id="{10E37143-0C8A-6B1F-AC4F-14B7C834734B}"/>
              </a:ext>
            </a:extLst>
          </p:cNvPr>
          <p:cNvCxnSpPr>
            <a:cxnSpLocks/>
          </p:cNvCxnSpPr>
          <p:nvPr/>
        </p:nvCxnSpPr>
        <p:spPr>
          <a:xfrm>
            <a:off x="138416" y="1711325"/>
            <a:ext cx="715074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pic>
        <p:nvPicPr>
          <p:cNvPr id="18" name="Gráfico 17">
            <a:extLst>
              <a:ext uri="{FF2B5EF4-FFF2-40B4-BE49-F238E27FC236}">
                <a16:creationId xmlns:a16="http://schemas.microsoft.com/office/drawing/2014/main" id="{95C080FB-B08A-01D3-DFE3-9B248EB5C6F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r:link="rId7"/>
              </a:ext>
            </a:extLst>
          </a:blip>
          <a:stretch>
            <a:fillRect/>
          </a:stretch>
        </p:blipFill>
        <p:spPr>
          <a:xfrm>
            <a:off x="418711" y="5333304"/>
            <a:ext cx="6637193" cy="3168588"/>
          </a:xfrm>
          <a:prstGeom prst="rect">
            <a:avLst/>
          </a:prstGeom>
        </p:spPr>
      </p:pic>
      <p:sp>
        <p:nvSpPr>
          <p:cNvPr id="19" name="CuadroTexto 18">
            <a:extLst>
              <a:ext uri="{FF2B5EF4-FFF2-40B4-BE49-F238E27FC236}">
                <a16:creationId xmlns:a16="http://schemas.microsoft.com/office/drawing/2014/main" id="{18DDBA4C-C080-4242-A14C-134A62C8959F}"/>
              </a:ext>
            </a:extLst>
          </p:cNvPr>
          <p:cNvSpPr txBox="1"/>
          <p:nvPr/>
        </p:nvSpPr>
        <p:spPr>
          <a:xfrm>
            <a:off x="299980" y="2869569"/>
            <a:ext cx="3218262" cy="1754326"/>
          </a:xfrm>
          <a:prstGeom prst="rect">
            <a:avLst/>
          </a:prstGeom>
          <a:noFill/>
        </p:spPr>
        <p:txBody>
          <a:bodyPr wrap="square" rtlCol="0">
            <a:spAutoFit/>
          </a:bodyPr>
          <a:lstStyle/>
          <a:p>
            <a:pPr algn="just"/>
            <a:endParaRPr lang="es-CL" sz="900" dirty="0">
              <a:latin typeface="Calibri" panose="020F0502020204030204" pitchFamily="34" charset="0"/>
              <a:ea typeface="Calibri" panose="020F0502020204030204" pitchFamily="34" charset="0"/>
              <a:cs typeface="Calibri" panose="020F0502020204030204" pitchFamily="34" charset="0"/>
            </a:endParaRPr>
          </a:p>
          <a:p>
            <a:pPr algn="just"/>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Del análisis del periodo estudiado, que comprende los meses entre el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fecha_inicio</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y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fecha_fin</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es posible observar que la energía total vertida asciende a un total de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kpis.vert_total_mwh</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kWh, destacando el caso de la empresa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kpis.empresa_vert_max</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que por restricciones de diversa índole se vio obligada a verter un total de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kpis.vert_empresa_vert_max</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 kWh durante el mes de {{</a:t>
            </a:r>
            <a:r>
              <a:rPr lang="es-CL" sz="900" dirty="0" err="1">
                <a:solidFill>
                  <a:srgbClr val="002060"/>
                </a:solidFill>
                <a:effectLst/>
                <a:latin typeface="Abadi" panose="020B0604020104020204" pitchFamily="34" charset="0"/>
                <a:ea typeface="Calibri" panose="020F0502020204030204" pitchFamily="34" charset="0"/>
                <a:cs typeface="Calibri" panose="020F0502020204030204" pitchFamily="34" charset="0"/>
              </a:rPr>
              <a:t>kpis.periodo_empresa_max</a:t>
            </a:r>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a:t>
            </a:r>
            <a:endPar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endParaRPr>
          </a:p>
          <a:p>
            <a:pPr algn="just"/>
            <a:r>
              <a:rPr lang="es-CL" sz="900" dirty="0">
                <a:solidFill>
                  <a:srgbClr val="002060"/>
                </a:solidFill>
                <a:effectLst/>
                <a:latin typeface="Abadi" panose="020B0604020104020204" pitchFamily="34" charset="0"/>
                <a:ea typeface="Calibri" panose="020F0502020204030204" pitchFamily="34" charset="0"/>
                <a:cs typeface="Calibri" panose="020F0502020204030204" pitchFamily="34" charset="0"/>
              </a:rPr>
              <a:t>Por sur.</a:t>
            </a:r>
            <a:endPar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endParaRPr>
          </a:p>
          <a:p>
            <a:endParaRPr lang="es-CL" dirty="0"/>
          </a:p>
        </p:txBody>
      </p:sp>
      <p:sp>
        <p:nvSpPr>
          <p:cNvPr id="14" name="Rectángulo: esquinas redondeadas 13">
            <a:extLst>
              <a:ext uri="{FF2B5EF4-FFF2-40B4-BE49-F238E27FC236}">
                <a16:creationId xmlns:a16="http://schemas.microsoft.com/office/drawing/2014/main" id="{FF7C722F-9063-9D48-1EC4-C1E295146C78}"/>
              </a:ext>
            </a:extLst>
          </p:cNvPr>
          <p:cNvSpPr/>
          <p:nvPr/>
        </p:nvSpPr>
        <p:spPr>
          <a:xfrm>
            <a:off x="2255519" y="1930994"/>
            <a:ext cx="1060301" cy="191775"/>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7" name="CuadroTexto 16">
            <a:extLst>
              <a:ext uri="{FF2B5EF4-FFF2-40B4-BE49-F238E27FC236}">
                <a16:creationId xmlns:a16="http://schemas.microsoft.com/office/drawing/2014/main" id="{D6E6AF4A-1DB9-6D06-B5C9-2FDA3F2E6904}"/>
              </a:ext>
            </a:extLst>
          </p:cNvPr>
          <p:cNvSpPr txBox="1"/>
          <p:nvPr/>
        </p:nvSpPr>
        <p:spPr>
          <a:xfrm>
            <a:off x="2319076" y="1913494"/>
            <a:ext cx="1271587" cy="2308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Indicadores</a:t>
            </a:r>
            <a:r>
              <a:rPr lang="es-CL" sz="900" dirty="0"/>
              <a:t> </a:t>
            </a:r>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clave</a:t>
            </a:r>
          </a:p>
        </p:txBody>
      </p:sp>
      <p:sp>
        <p:nvSpPr>
          <p:cNvPr id="26" name="Rectángulo: esquinas redondeadas 25">
            <a:extLst>
              <a:ext uri="{FF2B5EF4-FFF2-40B4-BE49-F238E27FC236}">
                <a16:creationId xmlns:a16="http://schemas.microsoft.com/office/drawing/2014/main" id="{673E6091-A867-1725-D9D9-D83467018601}"/>
              </a:ext>
            </a:extLst>
          </p:cNvPr>
          <p:cNvSpPr/>
          <p:nvPr/>
        </p:nvSpPr>
        <p:spPr>
          <a:xfrm>
            <a:off x="5715000" y="5006544"/>
            <a:ext cx="1067460" cy="215481"/>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27" name="CuadroTexto 26">
            <a:extLst>
              <a:ext uri="{FF2B5EF4-FFF2-40B4-BE49-F238E27FC236}">
                <a16:creationId xmlns:a16="http://schemas.microsoft.com/office/drawing/2014/main" id="{0BD4439F-E635-CA8F-E581-44DC0A409722}"/>
              </a:ext>
            </a:extLst>
          </p:cNvPr>
          <p:cNvSpPr txBox="1"/>
          <p:nvPr/>
        </p:nvSpPr>
        <p:spPr>
          <a:xfrm>
            <a:off x="5665138" y="4991193"/>
            <a:ext cx="2107262" cy="2308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Inyecciones - retiros</a:t>
            </a:r>
          </a:p>
        </p:txBody>
      </p:sp>
    </p:spTree>
    <p:extLst>
      <p:ext uri="{BB962C8B-B14F-4D97-AF65-F5344CB8AC3E}">
        <p14:creationId xmlns:p14="http://schemas.microsoft.com/office/powerpoint/2010/main" val="315006707"/>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8C91C574-6856-B273-0044-0652910EB494}"/>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15737" y="-352900"/>
            <a:ext cx="7772400" cy="10073163"/>
          </a:xfrm>
          <a:prstGeom prst="rect">
            <a:avLst/>
          </a:prstGeom>
        </p:spPr>
      </p:pic>
      <p:sp>
        <p:nvSpPr>
          <p:cNvPr id="23" name="Rectángulo: esquinas redondeadas 22">
            <a:extLst>
              <a:ext uri="{FF2B5EF4-FFF2-40B4-BE49-F238E27FC236}">
                <a16:creationId xmlns:a16="http://schemas.microsoft.com/office/drawing/2014/main" id="{EE7AE2C0-093D-032C-F70A-0527F37E3800}"/>
              </a:ext>
            </a:extLst>
          </p:cNvPr>
          <p:cNvSpPr/>
          <p:nvPr/>
        </p:nvSpPr>
        <p:spPr>
          <a:xfrm>
            <a:off x="260776" y="1936891"/>
            <a:ext cx="7020893" cy="3658872"/>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29" name="Rectángulo: esquinas redondeadas 28">
            <a:extLst>
              <a:ext uri="{FF2B5EF4-FFF2-40B4-BE49-F238E27FC236}">
                <a16:creationId xmlns:a16="http://schemas.microsoft.com/office/drawing/2014/main" id="{876A6718-D000-3D60-EB26-814C92EA1FA2}"/>
              </a:ext>
            </a:extLst>
          </p:cNvPr>
          <p:cNvSpPr/>
          <p:nvPr/>
        </p:nvSpPr>
        <p:spPr>
          <a:xfrm>
            <a:off x="4923892" y="2079905"/>
            <a:ext cx="1912010" cy="215481"/>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15737" y="-36076"/>
            <a:ext cx="7803874" cy="1335958"/>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endParaRPr lang="es-CL" sz="1800" b="1" kern="100" dirty="0">
              <a:effectLst/>
              <a:latin typeface="Segoe UI" panose="020B0502040204020203" pitchFamily="34" charset="0"/>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3" cstate="print">
            <a:extLst>
              <a:ext uri="{28A0092B-C50C-407E-A947-70E740481C1C}">
                <a14:useLocalDpi xmlns:a14="http://schemas.microsoft.com/office/drawing/2010/main" val="0"/>
              </a:ext>
            </a:extLst>
          </a:blip>
          <a:stretch>
            <a:fillRect/>
          </a:stretch>
        </p:blipFill>
        <p:spPr>
          <a:xfrm>
            <a:off x="6219190" y="107426"/>
            <a:ext cx="1163320" cy="1056640"/>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p:nvPr/>
        </p:nvSpPr>
        <p:spPr>
          <a:xfrm>
            <a:off x="-378648" y="227529"/>
            <a:ext cx="5070159" cy="392608"/>
          </a:xfrm>
          <a:prstGeom prst="rect">
            <a:avLst/>
          </a:prstGeom>
          <a:noFill/>
        </p:spPr>
        <p:txBody>
          <a:bodyPr wrap="square" rtlCol="0">
            <a:spAutoFit/>
          </a:bodyPr>
          <a:lstStyle/>
          <a:p>
            <a:pPr marL="630555">
              <a:lnSpc>
                <a:spcPct val="115000"/>
              </a:lnSpc>
              <a:spcAft>
                <a:spcPts val="800"/>
              </a:spcAft>
            </a:pPr>
            <a:r>
              <a:rPr lang="es-CL" sz="1800" b="1" kern="100" dirty="0">
                <a:solidFill>
                  <a:schemeClr val="bg1"/>
                </a:solidFill>
                <a:effectLst/>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ffectLst/>
              <a:ea typeface="Aptos" panose="020B000402020202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4C24B7D0-229A-B8F3-DAA3-3D947D0AC2C7}"/>
              </a:ext>
            </a:extLst>
          </p:cNvPr>
          <p:cNvSpPr txBox="1"/>
          <p:nvPr/>
        </p:nvSpPr>
        <p:spPr>
          <a:xfrm>
            <a:off x="-355976" y="555280"/>
            <a:ext cx="3874218" cy="566565"/>
          </a:xfrm>
          <a:prstGeom prst="rect">
            <a:avLst/>
          </a:prstGeom>
          <a:noFill/>
        </p:spPr>
        <p:txBody>
          <a:bodyPr wrap="square" rtlCol="0">
            <a:spAutoFit/>
          </a:bodyPr>
          <a:lstStyle/>
          <a:p>
            <a:pPr marL="630555">
              <a:lnSpc>
                <a:spcPct val="115000"/>
              </a:lnSpc>
              <a:spcAft>
                <a:spcPts val="800"/>
              </a:spcAft>
            </a:pPr>
            <a:r>
              <a:rPr lang="es-CL" sz="1400" b="1" kern="100" dirty="0">
                <a:solidFill>
                  <a:schemeClr val="bg1"/>
                </a:solidFill>
                <a:latin typeface="Segoe UI" panose="020B0502040204020203" pitchFamily="34" charset="0"/>
                <a:cs typeface="Times New Roman" panose="02020603050405020304" pitchFamily="18" charset="0"/>
              </a:rPr>
              <a:t>Periodo</a:t>
            </a:r>
            <a:r>
              <a:rPr lang="es-CL" sz="1400" b="1" kern="100" dirty="0">
                <a:effectLst/>
                <a:latin typeface="Segoe UI" panose="020B0502040204020203" pitchFamily="34" charset="0"/>
                <a:ea typeface="Aptos" panose="020B0004020202020204" pitchFamily="34" charset="0"/>
                <a:cs typeface="Times New Roman" panose="02020603050405020304" pitchFamily="18" charset="0"/>
              </a:rPr>
              <a:t> </a:t>
            </a:r>
            <a:r>
              <a:rPr lang="es-CL" sz="1400" b="1" kern="100" dirty="0">
                <a:solidFill>
                  <a:schemeClr val="bg1"/>
                </a:solidFill>
                <a:latin typeface="Segoe UI" panose="020B0502040204020203" pitchFamily="34" charset="0"/>
                <a:cs typeface="Times New Roman" panose="02020603050405020304" pitchFamily="18" charset="0"/>
              </a:rPr>
              <a:t>de estudio</a:t>
            </a:r>
            <a:br>
              <a:rPr lang="es-CL" sz="1400" b="1" kern="100" dirty="0">
                <a:solidFill>
                  <a:schemeClr val="bg1"/>
                </a:solidFill>
                <a:latin typeface="Segoe UI" panose="020B0502040204020203" pitchFamily="34" charset="0"/>
                <a:cs typeface="Times New Roman" panose="02020603050405020304" pitchFamily="18" charset="0"/>
              </a:rPr>
            </a:br>
            <a:r>
              <a:rPr lang="es-CL" sz="1400" b="1" kern="100" dirty="0">
                <a:solidFill>
                  <a:schemeClr val="bg1"/>
                </a:solidFill>
                <a:latin typeface="Segoe UI" panose="020B0502040204020203" pitchFamily="34" charset="0"/>
                <a:cs typeface="Times New Roman" panose="02020603050405020304" pitchFamily="18" charset="0"/>
              </a:rPr>
              <a:t>2024-01 → 2024-12                                           </a:t>
            </a: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0125" y="1449596"/>
            <a:ext cx="2373050" cy="307777"/>
          </a:xfrm>
          <a:prstGeom prst="rect">
            <a:avLst/>
          </a:prstGeom>
          <a:noFill/>
        </p:spPr>
        <p:txBody>
          <a:bodyPr wrap="square" rtlCol="0">
            <a:spAutoFit/>
          </a:bodyPr>
          <a:lstStyle/>
          <a:p>
            <a:r>
              <a:rPr lang="es-CL" sz="1400" b="1" kern="100" dirty="0">
                <a:solidFill>
                  <a:srgbClr val="002060"/>
                </a:solidFill>
                <a:latin typeface="Segoe UI" panose="020B0502040204020203" pitchFamily="34" charset="0"/>
                <a:cs typeface="Times New Roman" panose="02020603050405020304" pitchFamily="18" charset="0"/>
              </a:rPr>
              <a:t>Evolución del sistema</a:t>
            </a:r>
          </a:p>
        </p:txBody>
      </p:sp>
      <p:pic>
        <p:nvPicPr>
          <p:cNvPr id="13" name="Gráfico 12">
            <a:extLst>
              <a:ext uri="{FF2B5EF4-FFF2-40B4-BE49-F238E27FC236}">
                <a16:creationId xmlns:a16="http://schemas.microsoft.com/office/drawing/2014/main" id="{0B59F865-B9DA-0A26-B0CD-3367BE92ED5C}"/>
              </a:ext>
            </a:extLst>
          </p:cNvPr>
          <p:cNvPicPr>
            <a:picLocks noChangeAspect="1"/>
          </p:cNvPicPr>
          <p:nvPr/>
        </p:nvPicPr>
        <p:blipFill>
          <a:blip r:embed="rId4">
            <a:extLst>
              <a:ext uri="{96DAC541-7B7A-43D3-8B79-37D633B846F1}">
                <asvg:svgBlip xmlns:asvg="http://schemas.microsoft.com/office/drawing/2016/SVG/main" r:link="rId5"/>
              </a:ext>
            </a:extLst>
          </a:blip>
          <a:stretch>
            <a:fillRect/>
          </a:stretch>
        </p:blipFill>
        <p:spPr>
          <a:xfrm>
            <a:off x="706541" y="2438401"/>
            <a:ext cx="6129361" cy="2838450"/>
          </a:xfrm>
          <a:prstGeom prst="rect">
            <a:avLst/>
          </a:prstGeom>
        </p:spPr>
      </p:pic>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a:off x="170125" y="1723626"/>
            <a:ext cx="715074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28" name="CuadroTexto 27">
            <a:extLst>
              <a:ext uri="{FF2B5EF4-FFF2-40B4-BE49-F238E27FC236}">
                <a16:creationId xmlns:a16="http://schemas.microsoft.com/office/drawing/2014/main" id="{3B0A00FB-7FA8-E853-F61A-12E5CBE26FF9}"/>
              </a:ext>
            </a:extLst>
          </p:cNvPr>
          <p:cNvSpPr txBox="1"/>
          <p:nvPr/>
        </p:nvSpPr>
        <p:spPr>
          <a:xfrm>
            <a:off x="4923892" y="1962435"/>
            <a:ext cx="2107262" cy="3693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Serie</a:t>
            </a:r>
            <a:r>
              <a:rPr lang="es-CL" dirty="0"/>
              <a:t> </a:t>
            </a:r>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temporal</a:t>
            </a:r>
            <a:r>
              <a:rPr lang="es-CL" dirty="0"/>
              <a:t> </a:t>
            </a:r>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 referencia espacial</a:t>
            </a:r>
          </a:p>
        </p:txBody>
      </p:sp>
      <p:sp>
        <p:nvSpPr>
          <p:cNvPr id="2" name="Rectángulo: esquinas redondeadas 1">
            <a:extLst>
              <a:ext uri="{FF2B5EF4-FFF2-40B4-BE49-F238E27FC236}">
                <a16:creationId xmlns:a16="http://schemas.microsoft.com/office/drawing/2014/main" id="{82FDC3CC-EFCC-67EB-5017-695EFA626EC4}"/>
              </a:ext>
            </a:extLst>
          </p:cNvPr>
          <p:cNvSpPr/>
          <p:nvPr/>
        </p:nvSpPr>
        <p:spPr>
          <a:xfrm>
            <a:off x="260774" y="5809027"/>
            <a:ext cx="7020893" cy="3683708"/>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pic>
        <p:nvPicPr>
          <p:cNvPr id="8" name="Gráfico 7">
            <a:extLst>
              <a:ext uri="{FF2B5EF4-FFF2-40B4-BE49-F238E27FC236}">
                <a16:creationId xmlns:a16="http://schemas.microsoft.com/office/drawing/2014/main" id="{68D081CC-FE21-FAD0-7993-8A82009EF371}"/>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r:link="rId8"/>
              </a:ext>
            </a:extLst>
          </a:blip>
          <a:stretch>
            <a:fillRect/>
          </a:stretch>
        </p:blipFill>
        <p:spPr>
          <a:xfrm>
            <a:off x="452633" y="6084837"/>
            <a:ext cx="6637193" cy="3168588"/>
          </a:xfrm>
          <a:prstGeom prst="rect">
            <a:avLst/>
          </a:prstGeom>
        </p:spPr>
      </p:pic>
      <p:sp>
        <p:nvSpPr>
          <p:cNvPr id="10" name="CuadroTexto 9">
            <a:extLst>
              <a:ext uri="{FF2B5EF4-FFF2-40B4-BE49-F238E27FC236}">
                <a16:creationId xmlns:a16="http://schemas.microsoft.com/office/drawing/2014/main" id="{6E9F53C1-ED8F-E6B7-4E1B-A45880E4908C}"/>
              </a:ext>
            </a:extLst>
          </p:cNvPr>
          <p:cNvSpPr txBox="1"/>
          <p:nvPr/>
        </p:nvSpPr>
        <p:spPr>
          <a:xfrm>
            <a:off x="5665138" y="4991193"/>
            <a:ext cx="2107262" cy="2308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Inyecciones - retiros</a:t>
            </a:r>
          </a:p>
        </p:txBody>
      </p:sp>
      <p:sp>
        <p:nvSpPr>
          <p:cNvPr id="14" name="Rectángulo: esquinas redondeadas 13">
            <a:extLst>
              <a:ext uri="{FF2B5EF4-FFF2-40B4-BE49-F238E27FC236}">
                <a16:creationId xmlns:a16="http://schemas.microsoft.com/office/drawing/2014/main" id="{491E0C28-3BAF-99E5-AF12-F7E60F3491AD}"/>
              </a:ext>
            </a:extLst>
          </p:cNvPr>
          <p:cNvSpPr/>
          <p:nvPr/>
        </p:nvSpPr>
        <p:spPr>
          <a:xfrm>
            <a:off x="5812587" y="5977096"/>
            <a:ext cx="1067460" cy="215481"/>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2" name="CuadroTexto 11">
            <a:extLst>
              <a:ext uri="{FF2B5EF4-FFF2-40B4-BE49-F238E27FC236}">
                <a16:creationId xmlns:a16="http://schemas.microsoft.com/office/drawing/2014/main" id="{7E04A394-81FC-4431-0485-7FA294BE6187}"/>
              </a:ext>
            </a:extLst>
          </p:cNvPr>
          <p:cNvSpPr txBox="1"/>
          <p:nvPr/>
        </p:nvSpPr>
        <p:spPr>
          <a:xfrm>
            <a:off x="5776796" y="5981857"/>
            <a:ext cx="2107262" cy="2308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Inyecciones - retiros</a:t>
            </a:r>
          </a:p>
        </p:txBody>
      </p:sp>
    </p:spTree>
    <p:extLst>
      <p:ext uri="{BB962C8B-B14F-4D97-AF65-F5344CB8AC3E}">
        <p14:creationId xmlns:p14="http://schemas.microsoft.com/office/powerpoint/2010/main" val="783285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8C91C574-6856-B273-0044-0652910EB494}"/>
              </a:ext>
            </a:extLst>
          </p:cNvPr>
          <p:cNvPicPr>
            <a:picLocks noGrp="1" noRot="1" noChangeAspect="1" noMove="1" noResize="1" noEditPoints="1" noAdjustHandles="1" noChangeArrowheads="1" noChangeShapeType="1" noCrop="1"/>
          </p:cNvPicPr>
          <p:nvPr/>
        </p:nvPicPr>
        <p:blipFill rotWithShape="1">
          <a:blip r:embed="rId3" cstate="print">
            <a:extLst>
              <a:ext uri="{28A0092B-C50C-407E-A947-70E740481C1C}">
                <a14:useLocalDpi xmlns:a14="http://schemas.microsoft.com/office/drawing/2010/main" val="0"/>
              </a:ext>
            </a:extLst>
          </a:blip>
          <a:srcRect l="25875" t="-3385" r="25875" b="6771"/>
          <a:stretch/>
        </p:blipFill>
        <p:spPr>
          <a:xfrm>
            <a:off x="15737" y="-352900"/>
            <a:ext cx="7772400" cy="10073163"/>
          </a:xfrm>
          <a:prstGeom prst="rect">
            <a:avLst/>
          </a:prstGeom>
        </p:spPr>
      </p:pic>
      <p:sp>
        <p:nvSpPr>
          <p:cNvPr id="23" name="Rectángulo: esquinas redondeadas 22">
            <a:extLst>
              <a:ext uri="{FF2B5EF4-FFF2-40B4-BE49-F238E27FC236}">
                <a16:creationId xmlns:a16="http://schemas.microsoft.com/office/drawing/2014/main" id="{EE7AE2C0-093D-032C-F70A-0527F37E3800}"/>
              </a:ext>
            </a:extLst>
          </p:cNvPr>
          <p:cNvSpPr/>
          <p:nvPr/>
        </p:nvSpPr>
        <p:spPr>
          <a:xfrm>
            <a:off x="260776" y="1936891"/>
            <a:ext cx="7020893" cy="3658872"/>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29" name="Rectángulo: esquinas redondeadas 28">
            <a:extLst>
              <a:ext uri="{FF2B5EF4-FFF2-40B4-BE49-F238E27FC236}">
                <a16:creationId xmlns:a16="http://schemas.microsoft.com/office/drawing/2014/main" id="{876A6718-D000-3D60-EB26-814C92EA1FA2}"/>
              </a:ext>
            </a:extLst>
          </p:cNvPr>
          <p:cNvSpPr/>
          <p:nvPr/>
        </p:nvSpPr>
        <p:spPr>
          <a:xfrm>
            <a:off x="4923892" y="2079905"/>
            <a:ext cx="1912010" cy="215481"/>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25" name="Rectángulo: esquinas redondeadas 24">
            <a:extLst>
              <a:ext uri="{FF2B5EF4-FFF2-40B4-BE49-F238E27FC236}">
                <a16:creationId xmlns:a16="http://schemas.microsoft.com/office/drawing/2014/main" id="{7407F062-20D1-E71B-B9D1-2278BB1E0AD8}"/>
              </a:ext>
            </a:extLst>
          </p:cNvPr>
          <p:cNvSpPr/>
          <p:nvPr/>
        </p:nvSpPr>
        <p:spPr>
          <a:xfrm>
            <a:off x="299981" y="5809027"/>
            <a:ext cx="3814820" cy="3287994"/>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15737" y="-36076"/>
            <a:ext cx="7803874" cy="1335958"/>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endParaRPr lang="es-CL" sz="1800" b="1" kern="100" dirty="0">
              <a:effectLst/>
              <a:latin typeface="Segoe UI" panose="020B0502040204020203" pitchFamily="34" charset="0"/>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tretch>
            <a:fillRect/>
          </a:stretch>
        </p:blipFill>
        <p:spPr>
          <a:xfrm>
            <a:off x="6219190" y="107426"/>
            <a:ext cx="1163320" cy="1056640"/>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p:nvPr/>
        </p:nvSpPr>
        <p:spPr>
          <a:xfrm>
            <a:off x="-378648" y="227529"/>
            <a:ext cx="5070159" cy="392608"/>
          </a:xfrm>
          <a:prstGeom prst="rect">
            <a:avLst/>
          </a:prstGeom>
          <a:noFill/>
        </p:spPr>
        <p:txBody>
          <a:bodyPr wrap="square" rtlCol="0">
            <a:spAutoFit/>
          </a:bodyPr>
          <a:lstStyle/>
          <a:p>
            <a:pPr marL="630555">
              <a:lnSpc>
                <a:spcPct val="115000"/>
              </a:lnSpc>
              <a:spcAft>
                <a:spcPts val="800"/>
              </a:spcAft>
            </a:pPr>
            <a:r>
              <a:rPr lang="es-CL" sz="1800" b="1" kern="100" dirty="0">
                <a:solidFill>
                  <a:schemeClr val="bg1"/>
                </a:solidFill>
                <a:effectLst/>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ffectLst/>
              <a:ea typeface="Aptos" panose="020B000402020202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4C24B7D0-229A-B8F3-DAA3-3D947D0AC2C7}"/>
              </a:ext>
            </a:extLst>
          </p:cNvPr>
          <p:cNvSpPr txBox="1"/>
          <p:nvPr/>
        </p:nvSpPr>
        <p:spPr>
          <a:xfrm>
            <a:off x="-355976" y="555280"/>
            <a:ext cx="3874218" cy="566565"/>
          </a:xfrm>
          <a:prstGeom prst="rect">
            <a:avLst/>
          </a:prstGeom>
          <a:noFill/>
        </p:spPr>
        <p:txBody>
          <a:bodyPr wrap="square" rtlCol="0">
            <a:spAutoFit/>
          </a:bodyPr>
          <a:lstStyle/>
          <a:p>
            <a:pPr marL="630555">
              <a:lnSpc>
                <a:spcPct val="115000"/>
              </a:lnSpc>
              <a:spcAft>
                <a:spcPts val="800"/>
              </a:spcAft>
            </a:pPr>
            <a:r>
              <a:rPr lang="es-CL" sz="1400" b="1" kern="100" dirty="0">
                <a:solidFill>
                  <a:schemeClr val="bg1"/>
                </a:solidFill>
                <a:latin typeface="Segoe UI" panose="020B0502040204020203" pitchFamily="34" charset="0"/>
                <a:cs typeface="Times New Roman" panose="02020603050405020304" pitchFamily="18" charset="0"/>
              </a:rPr>
              <a:t>Periodo</a:t>
            </a:r>
            <a:r>
              <a:rPr lang="es-CL" sz="1400" b="1" kern="100" dirty="0">
                <a:effectLst/>
                <a:latin typeface="Segoe UI" panose="020B0502040204020203" pitchFamily="34" charset="0"/>
                <a:ea typeface="Aptos" panose="020B0004020202020204" pitchFamily="34" charset="0"/>
                <a:cs typeface="Times New Roman" panose="02020603050405020304" pitchFamily="18" charset="0"/>
              </a:rPr>
              <a:t> </a:t>
            </a:r>
            <a:r>
              <a:rPr lang="es-CL" sz="1400" b="1" kern="100" dirty="0">
                <a:solidFill>
                  <a:schemeClr val="bg1"/>
                </a:solidFill>
                <a:latin typeface="Segoe UI" panose="020B0502040204020203" pitchFamily="34" charset="0"/>
                <a:cs typeface="Times New Roman" panose="02020603050405020304" pitchFamily="18" charset="0"/>
              </a:rPr>
              <a:t>de estudio</a:t>
            </a:r>
            <a:br>
              <a:rPr lang="es-CL" sz="1400" b="1" kern="100" dirty="0">
                <a:solidFill>
                  <a:schemeClr val="bg1"/>
                </a:solidFill>
                <a:latin typeface="Segoe UI" panose="020B0502040204020203" pitchFamily="34" charset="0"/>
                <a:cs typeface="Times New Roman" panose="02020603050405020304" pitchFamily="18" charset="0"/>
              </a:rPr>
            </a:br>
            <a:r>
              <a:rPr lang="es-CL" sz="1400" b="1" kern="100" dirty="0">
                <a:solidFill>
                  <a:schemeClr val="bg1"/>
                </a:solidFill>
                <a:latin typeface="Segoe UI" panose="020B0502040204020203" pitchFamily="34" charset="0"/>
                <a:cs typeface="Times New Roman" panose="02020603050405020304" pitchFamily="18" charset="0"/>
              </a:rPr>
              <a:t>2024-01 → 2024-12                                           </a:t>
            </a: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0125" y="1449596"/>
            <a:ext cx="2678384" cy="307777"/>
          </a:xfrm>
          <a:prstGeom prst="rect">
            <a:avLst/>
          </a:prstGeom>
          <a:noFill/>
        </p:spPr>
        <p:txBody>
          <a:bodyPr wrap="square" rtlCol="0">
            <a:spAutoFit/>
          </a:bodyPr>
          <a:lstStyle/>
          <a:p>
            <a:r>
              <a:rPr lang="es-CL" sz="1400" b="1" kern="100" dirty="0">
                <a:solidFill>
                  <a:srgbClr val="002060"/>
                </a:solidFill>
                <a:latin typeface="Segoe UI" panose="020B0502040204020203" pitchFamily="34" charset="0"/>
                <a:cs typeface="Times New Roman" panose="02020603050405020304" pitchFamily="18" charset="0"/>
              </a:rPr>
              <a:t>Visión para el inversionista</a:t>
            </a:r>
          </a:p>
        </p:txBody>
      </p:sp>
      <p:pic>
        <p:nvPicPr>
          <p:cNvPr id="13" name="Gráfico 12">
            <a:extLst>
              <a:ext uri="{FF2B5EF4-FFF2-40B4-BE49-F238E27FC236}">
                <a16:creationId xmlns:a16="http://schemas.microsoft.com/office/drawing/2014/main" id="{0B59F865-B9DA-0A26-B0CD-3367BE92ED5C}"/>
              </a:ext>
            </a:extLst>
          </p:cNvPr>
          <p:cNvPicPr>
            <a:picLocks noChangeAspect="1"/>
          </p:cNvPicPr>
          <p:nvPr/>
        </p:nvPicPr>
        <p:blipFill>
          <a:blip r:embed="rId5">
            <a:extLst>
              <a:ext uri="{96DAC541-7B7A-43D3-8B79-37D633B846F1}">
                <asvg:svgBlip xmlns:asvg="http://schemas.microsoft.com/office/drawing/2016/SVG/main" r:link="rId6"/>
              </a:ext>
            </a:extLst>
          </a:blip>
          <a:stretch>
            <a:fillRect/>
          </a:stretch>
        </p:blipFill>
        <p:spPr>
          <a:xfrm>
            <a:off x="706541" y="2438401"/>
            <a:ext cx="6129361" cy="2838450"/>
          </a:xfrm>
          <a:prstGeom prst="rect">
            <a:avLst/>
          </a:prstGeom>
        </p:spPr>
      </p:pic>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a:off x="170125" y="1723626"/>
            <a:ext cx="715074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28" name="CuadroTexto 27">
            <a:extLst>
              <a:ext uri="{FF2B5EF4-FFF2-40B4-BE49-F238E27FC236}">
                <a16:creationId xmlns:a16="http://schemas.microsoft.com/office/drawing/2014/main" id="{3B0A00FB-7FA8-E853-F61A-12E5CBE26FF9}"/>
              </a:ext>
            </a:extLst>
          </p:cNvPr>
          <p:cNvSpPr txBox="1"/>
          <p:nvPr/>
        </p:nvSpPr>
        <p:spPr>
          <a:xfrm>
            <a:off x="4923892" y="1962435"/>
            <a:ext cx="2107262" cy="3693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Serie</a:t>
            </a:r>
            <a:r>
              <a:rPr lang="es-CL" dirty="0"/>
              <a:t> </a:t>
            </a:r>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temporal</a:t>
            </a:r>
            <a:r>
              <a:rPr lang="es-CL" dirty="0"/>
              <a:t> </a:t>
            </a:r>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 referencia espacial</a:t>
            </a:r>
          </a:p>
        </p:txBody>
      </p:sp>
      <p:sp>
        <p:nvSpPr>
          <p:cNvPr id="30" name="Rectángulo: esquinas redondeadas 29">
            <a:extLst>
              <a:ext uri="{FF2B5EF4-FFF2-40B4-BE49-F238E27FC236}">
                <a16:creationId xmlns:a16="http://schemas.microsoft.com/office/drawing/2014/main" id="{4C03329B-26F2-3251-53D1-3B820896E74B}"/>
              </a:ext>
            </a:extLst>
          </p:cNvPr>
          <p:cNvSpPr/>
          <p:nvPr/>
        </p:nvSpPr>
        <p:spPr>
          <a:xfrm>
            <a:off x="1535987" y="5893333"/>
            <a:ext cx="2209512" cy="235424"/>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32" name="CuadroTexto 31">
            <a:extLst>
              <a:ext uri="{FF2B5EF4-FFF2-40B4-BE49-F238E27FC236}">
                <a16:creationId xmlns:a16="http://schemas.microsoft.com/office/drawing/2014/main" id="{A5896BAD-0EBE-0A4E-E6DC-3114595A4119}"/>
              </a:ext>
            </a:extLst>
          </p:cNvPr>
          <p:cNvSpPr txBox="1"/>
          <p:nvPr/>
        </p:nvSpPr>
        <p:spPr>
          <a:xfrm>
            <a:off x="1489219" y="5893333"/>
            <a:ext cx="2396981" cy="2308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Spread CMG – diferencia precio día noche</a:t>
            </a:r>
          </a:p>
        </p:txBody>
      </p:sp>
      <p:pic>
        <p:nvPicPr>
          <p:cNvPr id="3" name="Gráfico 2">
            <a:extLst>
              <a:ext uri="{FF2B5EF4-FFF2-40B4-BE49-F238E27FC236}">
                <a16:creationId xmlns:a16="http://schemas.microsoft.com/office/drawing/2014/main" id="{A65D3523-094F-CCB0-DC31-198DA4DA54C9}"/>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82417" y="6359588"/>
            <a:ext cx="3228009" cy="2596850"/>
          </a:xfrm>
          <a:prstGeom prst="rect">
            <a:avLst/>
          </a:prstGeom>
        </p:spPr>
      </p:pic>
      <p:sp>
        <p:nvSpPr>
          <p:cNvPr id="7" name="Rectángulo: esquinas redondeadas 6">
            <a:extLst>
              <a:ext uri="{FF2B5EF4-FFF2-40B4-BE49-F238E27FC236}">
                <a16:creationId xmlns:a16="http://schemas.microsoft.com/office/drawing/2014/main" id="{F3A3603B-79AF-D417-5658-66BE40CC0194}"/>
              </a:ext>
            </a:extLst>
          </p:cNvPr>
          <p:cNvSpPr/>
          <p:nvPr/>
        </p:nvSpPr>
        <p:spPr>
          <a:xfrm>
            <a:off x="4284563" y="5809027"/>
            <a:ext cx="3036310" cy="3287994"/>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9" name="CuadroTexto 8">
            <a:extLst>
              <a:ext uri="{FF2B5EF4-FFF2-40B4-BE49-F238E27FC236}">
                <a16:creationId xmlns:a16="http://schemas.microsoft.com/office/drawing/2014/main" id="{26C6B877-C08E-54E0-E811-75867D71B101}"/>
              </a:ext>
            </a:extLst>
          </p:cNvPr>
          <p:cNvSpPr txBox="1"/>
          <p:nvPr/>
        </p:nvSpPr>
        <p:spPr>
          <a:xfrm>
            <a:off x="4691511" y="6359588"/>
            <a:ext cx="2144391" cy="2585323"/>
          </a:xfrm>
          <a:prstGeom prst="rect">
            <a:avLst/>
          </a:prstGeom>
          <a:noFill/>
        </p:spPr>
        <p:txBody>
          <a:bodyPr wrap="square" rtlCol="0">
            <a:spAutoFit/>
          </a:bodyPr>
          <a:lstStyle/>
          <a:p>
            <a:r>
              <a:rPr lang="es-CL" dirty="0"/>
              <a:t>Análisis orientado al spread, breve descripción de las zonas geográficas.</a:t>
            </a:r>
          </a:p>
          <a:p>
            <a:endParaRPr lang="es-CL" dirty="0"/>
          </a:p>
          <a:p>
            <a:r>
              <a:rPr lang="es-CL" dirty="0"/>
              <a:t>En segundo párrafo hablar de evolución de desacople-gráfico 1</a:t>
            </a:r>
          </a:p>
        </p:txBody>
      </p:sp>
    </p:spTree>
    <p:extLst>
      <p:ext uri="{BB962C8B-B14F-4D97-AF65-F5344CB8AC3E}">
        <p14:creationId xmlns:p14="http://schemas.microsoft.com/office/powerpoint/2010/main" val="1318690124"/>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8C91C574-6856-B273-0044-0652910EB494}"/>
              </a:ext>
            </a:extLst>
          </p:cNvPr>
          <p:cNvPicPr>
            <a:picLocks noGrp="1" noRot="1" noChangeAspect="1" noMove="1" noResize="1" noEditPoints="1" noAdjustHandles="1" noChangeArrowheads="1" noChangeShapeType="1" noCrop="1"/>
          </p:cNvPicPr>
          <p:nvPr/>
        </p:nvPicPr>
        <p:blipFill rotWithShape="1">
          <a:blip r:embed="rId3" cstate="print">
            <a:extLst>
              <a:ext uri="{28A0092B-C50C-407E-A947-70E740481C1C}">
                <a14:useLocalDpi xmlns:a14="http://schemas.microsoft.com/office/drawing/2010/main" val="0"/>
              </a:ext>
            </a:extLst>
          </a:blip>
          <a:srcRect l="25875" t="-3385" r="25875" b="6771"/>
          <a:stretch/>
        </p:blipFill>
        <p:spPr>
          <a:xfrm>
            <a:off x="15737" y="-352900"/>
            <a:ext cx="7772400" cy="10073163"/>
          </a:xfrm>
          <a:prstGeom prst="rect">
            <a:avLst/>
          </a:prstGeom>
        </p:spPr>
      </p:pic>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15737" y="-36076"/>
            <a:ext cx="7803874" cy="1335958"/>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endParaRPr lang="es-CL" sz="1800" b="1" kern="100" dirty="0">
              <a:effectLst/>
              <a:latin typeface="Segoe UI" panose="020B0502040204020203" pitchFamily="34" charset="0"/>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19190" y="107426"/>
            <a:ext cx="1163320" cy="1056640"/>
          </a:xfrm>
          <a:prstGeom prst="rect">
            <a:avLst/>
          </a:prstGeom>
        </p:spPr>
      </p:pic>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239672" y="1839593"/>
            <a:ext cx="7139333" cy="1570357"/>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3" name="Rectángulo: esquinas redondeadas 12">
            <a:extLst>
              <a:ext uri="{FF2B5EF4-FFF2-40B4-BE49-F238E27FC236}">
                <a16:creationId xmlns:a16="http://schemas.microsoft.com/office/drawing/2014/main" id="{11D5ABFF-0BBA-7118-4CAA-D0DEF3267EF8}"/>
              </a:ext>
            </a:extLst>
          </p:cNvPr>
          <p:cNvSpPr>
            <a:spLocks/>
          </p:cNvSpPr>
          <p:nvPr/>
        </p:nvSpPr>
        <p:spPr>
          <a:xfrm>
            <a:off x="239672" y="6713336"/>
            <a:ext cx="3448473" cy="2763538"/>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dirty="0"/>
          </a:p>
        </p:txBody>
      </p:sp>
      <p:sp>
        <p:nvSpPr>
          <p:cNvPr id="14" name="Rectángulo: esquinas redondeadas 13">
            <a:extLst>
              <a:ext uri="{FF2B5EF4-FFF2-40B4-BE49-F238E27FC236}">
                <a16:creationId xmlns:a16="http://schemas.microsoft.com/office/drawing/2014/main" id="{BC640CFB-D442-9CAF-05C2-333332C40FD7}"/>
              </a:ext>
            </a:extLst>
          </p:cNvPr>
          <p:cNvSpPr>
            <a:spLocks/>
          </p:cNvSpPr>
          <p:nvPr/>
        </p:nvSpPr>
        <p:spPr>
          <a:xfrm>
            <a:off x="4009588" y="6713336"/>
            <a:ext cx="3369416" cy="2763538"/>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20" name="CuadroTexto 19">
            <a:extLst>
              <a:ext uri="{FF2B5EF4-FFF2-40B4-BE49-F238E27FC236}">
                <a16:creationId xmlns:a16="http://schemas.microsoft.com/office/drawing/2014/main" id="{D074A6F0-4B53-95B0-A880-60470F1EA1FC}"/>
              </a:ext>
            </a:extLst>
          </p:cNvPr>
          <p:cNvSpPr txBox="1"/>
          <p:nvPr/>
        </p:nvSpPr>
        <p:spPr>
          <a:xfrm>
            <a:off x="-378648" y="227529"/>
            <a:ext cx="5070159" cy="392608"/>
          </a:xfrm>
          <a:prstGeom prst="rect">
            <a:avLst/>
          </a:prstGeom>
          <a:noFill/>
        </p:spPr>
        <p:txBody>
          <a:bodyPr wrap="square" rtlCol="0">
            <a:spAutoFit/>
          </a:bodyPr>
          <a:lstStyle/>
          <a:p>
            <a:pPr marL="630555">
              <a:lnSpc>
                <a:spcPct val="115000"/>
              </a:lnSpc>
              <a:spcAft>
                <a:spcPts val="800"/>
              </a:spcAft>
            </a:pPr>
            <a:r>
              <a:rPr lang="es-CL" sz="1800" b="1" kern="100" dirty="0">
                <a:solidFill>
                  <a:schemeClr val="bg1"/>
                </a:solidFill>
                <a:effectLst/>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ffectLst/>
              <a:ea typeface="Aptos" panose="020B000402020202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4C24B7D0-229A-B8F3-DAA3-3D947D0AC2C7}"/>
              </a:ext>
            </a:extLst>
          </p:cNvPr>
          <p:cNvSpPr txBox="1"/>
          <p:nvPr/>
        </p:nvSpPr>
        <p:spPr>
          <a:xfrm>
            <a:off x="-355976" y="555280"/>
            <a:ext cx="3874218" cy="566565"/>
          </a:xfrm>
          <a:prstGeom prst="rect">
            <a:avLst/>
          </a:prstGeom>
          <a:noFill/>
        </p:spPr>
        <p:txBody>
          <a:bodyPr wrap="square" rtlCol="0">
            <a:spAutoFit/>
          </a:bodyPr>
          <a:lstStyle/>
          <a:p>
            <a:pPr marL="630555">
              <a:lnSpc>
                <a:spcPct val="115000"/>
              </a:lnSpc>
              <a:spcAft>
                <a:spcPts val="800"/>
              </a:spcAft>
            </a:pPr>
            <a:r>
              <a:rPr lang="es-CL" sz="1400" b="1" kern="100" dirty="0">
                <a:solidFill>
                  <a:schemeClr val="bg1"/>
                </a:solidFill>
                <a:latin typeface="Segoe UI" panose="020B0502040204020203" pitchFamily="34" charset="0"/>
                <a:cs typeface="Times New Roman" panose="02020603050405020304" pitchFamily="18" charset="0"/>
              </a:rPr>
              <a:t>Periodo</a:t>
            </a:r>
            <a:r>
              <a:rPr lang="es-CL" sz="1400" b="1" kern="100" dirty="0">
                <a:effectLst/>
                <a:latin typeface="Segoe UI" panose="020B0502040204020203" pitchFamily="34" charset="0"/>
                <a:ea typeface="Aptos" panose="020B0004020202020204" pitchFamily="34" charset="0"/>
                <a:cs typeface="Times New Roman" panose="02020603050405020304" pitchFamily="18" charset="0"/>
              </a:rPr>
              <a:t> </a:t>
            </a:r>
            <a:r>
              <a:rPr lang="es-CL" sz="1400" b="1" kern="100" dirty="0">
                <a:solidFill>
                  <a:schemeClr val="bg1"/>
                </a:solidFill>
                <a:latin typeface="Segoe UI" panose="020B0502040204020203" pitchFamily="34" charset="0"/>
                <a:cs typeface="Times New Roman" panose="02020603050405020304" pitchFamily="18" charset="0"/>
              </a:rPr>
              <a:t>de estudio</a:t>
            </a:r>
            <a:br>
              <a:rPr lang="es-CL" sz="1400" b="1" kern="100" dirty="0">
                <a:solidFill>
                  <a:schemeClr val="bg1"/>
                </a:solidFill>
                <a:latin typeface="Segoe UI" panose="020B0502040204020203" pitchFamily="34" charset="0"/>
                <a:cs typeface="Times New Roman" panose="02020603050405020304" pitchFamily="18" charset="0"/>
              </a:rPr>
            </a:br>
            <a:r>
              <a:rPr lang="es-CL" sz="1400" b="1" kern="100" dirty="0">
                <a:solidFill>
                  <a:schemeClr val="bg1"/>
                </a:solidFill>
                <a:latin typeface="Segoe UI" panose="020B0502040204020203" pitchFamily="34" charset="0"/>
                <a:cs typeface="Times New Roman" panose="02020603050405020304" pitchFamily="18" charset="0"/>
              </a:rPr>
              <a:t>2024-01 → 2024-12                                           </a:t>
            </a:r>
          </a:p>
        </p:txBody>
      </p:sp>
      <p:sp>
        <p:nvSpPr>
          <p:cNvPr id="2" name="CuadroTexto 1">
            <a:extLst>
              <a:ext uri="{FF2B5EF4-FFF2-40B4-BE49-F238E27FC236}">
                <a16:creationId xmlns:a16="http://schemas.microsoft.com/office/drawing/2014/main" id="{B10D898F-3E4B-EC6C-BEC3-588F529EB856}"/>
              </a:ext>
            </a:extLst>
          </p:cNvPr>
          <p:cNvSpPr txBox="1"/>
          <p:nvPr/>
        </p:nvSpPr>
        <p:spPr>
          <a:xfrm>
            <a:off x="98334" y="1415849"/>
            <a:ext cx="1820875" cy="307777"/>
          </a:xfrm>
          <a:prstGeom prst="rect">
            <a:avLst/>
          </a:prstGeom>
          <a:noFill/>
        </p:spPr>
        <p:txBody>
          <a:bodyPr wrap="square" rtlCol="0">
            <a:spAutoFit/>
          </a:bodyPr>
          <a:lstStyle/>
          <a:p>
            <a:r>
              <a:rPr lang="es-CL" sz="1400" b="1" kern="100" dirty="0">
                <a:solidFill>
                  <a:srgbClr val="002060"/>
                </a:solidFill>
                <a:latin typeface="Segoe UI" panose="020B0502040204020203" pitchFamily="34" charset="0"/>
                <a:cs typeface="Times New Roman" panose="02020603050405020304" pitchFamily="18" charset="0"/>
              </a:rPr>
              <a:t>Vertimientos</a:t>
            </a:r>
          </a:p>
        </p:txBody>
      </p:sp>
      <p:sp>
        <p:nvSpPr>
          <p:cNvPr id="22" name="Rectángulo: esquinas redondeadas 21">
            <a:extLst>
              <a:ext uri="{FF2B5EF4-FFF2-40B4-BE49-F238E27FC236}">
                <a16:creationId xmlns:a16="http://schemas.microsoft.com/office/drawing/2014/main" id="{81B49827-0FD7-91F5-B21C-129CAF3E62E6}"/>
              </a:ext>
            </a:extLst>
          </p:cNvPr>
          <p:cNvSpPr>
            <a:spLocks noGrp="1" noRot="1" noMove="1" noResize="1" noEditPoints="1" noAdjustHandles="1" noChangeArrowheads="1" noChangeShapeType="1"/>
          </p:cNvSpPr>
          <p:nvPr/>
        </p:nvSpPr>
        <p:spPr>
          <a:xfrm>
            <a:off x="239672" y="3588881"/>
            <a:ext cx="7139333" cy="288106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23" name="CuadroTexto 22">
            <a:extLst>
              <a:ext uri="{FF2B5EF4-FFF2-40B4-BE49-F238E27FC236}">
                <a16:creationId xmlns:a16="http://schemas.microsoft.com/office/drawing/2014/main" id="{470618BE-80E3-6578-FCC8-D12F7C467F04}"/>
              </a:ext>
            </a:extLst>
          </p:cNvPr>
          <p:cNvSpPr txBox="1"/>
          <p:nvPr/>
        </p:nvSpPr>
        <p:spPr>
          <a:xfrm>
            <a:off x="925451" y="1937199"/>
            <a:ext cx="5767774" cy="1754326"/>
          </a:xfrm>
          <a:prstGeom prst="rect">
            <a:avLst/>
          </a:prstGeom>
          <a:noFill/>
        </p:spPr>
        <p:txBody>
          <a:bodyPr wrap="square" rtlCol="0">
            <a:spAutoFit/>
          </a:bodyPr>
          <a:lstStyle/>
          <a:p>
            <a:pPr algn="just"/>
            <a:endParaRPr lang="es-CL" sz="900" dirty="0">
              <a:latin typeface="Calibri" panose="020F0502020204030204" pitchFamily="34" charset="0"/>
              <a:ea typeface="Calibri" panose="020F0502020204030204" pitchFamily="34" charset="0"/>
              <a:cs typeface="Calibri" panose="020F0502020204030204" pitchFamily="34" charset="0"/>
            </a:endParaRPr>
          </a:p>
          <a:p>
            <a:pPr algn="l"/>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La presente sección de este reporte muestra información detallada de los vertimientos de energía renovable producidos en el periodo de estudio. La sección muestra dos componentes de información, el primer corresponde a un gráfico de cajas y bigotes más un gráfico de líneas; estas </a:t>
            </a:r>
            <a:r>
              <a:rPr lang="es-CL" sz="900" dirty="0" err="1">
                <a:solidFill>
                  <a:srgbClr val="002060"/>
                </a:solidFill>
                <a:latin typeface="Abadi" panose="020B0604020104020204" pitchFamily="34" charset="0"/>
                <a:ea typeface="Calibri" panose="020F0502020204030204" pitchFamily="34" charset="0"/>
                <a:cs typeface="Calibri" panose="020F0502020204030204" pitchFamily="34" charset="0"/>
              </a:rPr>
              <a:t>grásficas</a:t>
            </a:r>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 muestran la distribución de los vertimientos, incluyendo sus valores promedios y su comportamiento normal (cajas), </a:t>
            </a:r>
            <a:r>
              <a:rPr lang="es-CL" sz="900" dirty="0" err="1">
                <a:solidFill>
                  <a:srgbClr val="002060"/>
                </a:solidFill>
                <a:latin typeface="Abadi" panose="020B0604020104020204" pitchFamily="34" charset="0"/>
                <a:ea typeface="Calibri" panose="020F0502020204030204" pitchFamily="34" charset="0"/>
                <a:cs typeface="Calibri" panose="020F0502020204030204" pitchFamily="34" charset="0"/>
              </a:rPr>
              <a:t>adempás</a:t>
            </a:r>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 muestra los valores que escapan de este. Por otro lado, la misma imagen muestra una gráfica de líneas que indica la cantidad de energía renovable total vertida durante el período de estudio. En segundo lugar, en esta sección se muestra una tabla que indica las empresas que por diversas razones se vieron obligadas a verter más energía durante el periodo estudiado.</a:t>
            </a:r>
          </a:p>
          <a:p>
            <a:br>
              <a:rPr lang="es-CL" sz="900" b="0" i="0" dirty="0">
                <a:solidFill>
                  <a:srgbClr val="111111"/>
                </a:solidFill>
                <a:effectLst/>
                <a:highlight>
                  <a:srgbClr val="FFFFFF"/>
                </a:highlight>
                <a:latin typeface="system-ui"/>
              </a:rPr>
            </a:br>
            <a:endParaRPr lang="es-CL" dirty="0"/>
          </a:p>
        </p:txBody>
      </p:sp>
      <p:pic>
        <p:nvPicPr>
          <p:cNvPr id="25" name="Gráfico 24">
            <a:extLst>
              <a:ext uri="{FF2B5EF4-FFF2-40B4-BE49-F238E27FC236}">
                <a16:creationId xmlns:a16="http://schemas.microsoft.com/office/drawing/2014/main" id="{C67736CE-D603-7512-6F35-F233088E64D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r:link="rId7"/>
              </a:ext>
            </a:extLst>
          </a:blip>
          <a:stretch>
            <a:fillRect/>
          </a:stretch>
        </p:blipFill>
        <p:spPr>
          <a:xfrm>
            <a:off x="777369" y="3758008"/>
            <a:ext cx="5767774" cy="2607270"/>
          </a:xfrm>
          <a:prstGeom prst="rect">
            <a:avLst/>
          </a:prstGeom>
        </p:spPr>
      </p:pic>
      <p:cxnSp>
        <p:nvCxnSpPr>
          <p:cNvPr id="26" name="Conector recto 25">
            <a:extLst>
              <a:ext uri="{FF2B5EF4-FFF2-40B4-BE49-F238E27FC236}">
                <a16:creationId xmlns:a16="http://schemas.microsoft.com/office/drawing/2014/main" id="{DE6F00E0-8998-842B-7D15-55976617D1F5}"/>
              </a:ext>
            </a:extLst>
          </p:cNvPr>
          <p:cNvCxnSpPr>
            <a:cxnSpLocks/>
          </p:cNvCxnSpPr>
          <p:nvPr/>
        </p:nvCxnSpPr>
        <p:spPr>
          <a:xfrm flipV="1">
            <a:off x="239672" y="1711325"/>
            <a:ext cx="7049492" cy="12301"/>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29" name="Rectángulo: esquinas redondeadas 28">
            <a:extLst>
              <a:ext uri="{FF2B5EF4-FFF2-40B4-BE49-F238E27FC236}">
                <a16:creationId xmlns:a16="http://schemas.microsoft.com/office/drawing/2014/main" id="{7491D3B6-F4CC-B4E0-5A5B-36BF1035940B}"/>
              </a:ext>
            </a:extLst>
          </p:cNvPr>
          <p:cNvSpPr/>
          <p:nvPr/>
        </p:nvSpPr>
        <p:spPr>
          <a:xfrm>
            <a:off x="6002318" y="3681391"/>
            <a:ext cx="1158602" cy="179262"/>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28" name="CuadroTexto 27">
            <a:extLst>
              <a:ext uri="{FF2B5EF4-FFF2-40B4-BE49-F238E27FC236}">
                <a16:creationId xmlns:a16="http://schemas.microsoft.com/office/drawing/2014/main" id="{4D4C8723-68F9-D4E9-34A1-4298D3188A43}"/>
              </a:ext>
            </a:extLst>
          </p:cNvPr>
          <p:cNvSpPr txBox="1"/>
          <p:nvPr/>
        </p:nvSpPr>
        <p:spPr>
          <a:xfrm>
            <a:off x="6002318" y="3673714"/>
            <a:ext cx="2107262" cy="2308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Distribución - Total</a:t>
            </a:r>
          </a:p>
        </p:txBody>
      </p:sp>
      <p:sp>
        <p:nvSpPr>
          <p:cNvPr id="8" name="Rectángulo: esquinas redondeadas 7">
            <a:extLst>
              <a:ext uri="{FF2B5EF4-FFF2-40B4-BE49-F238E27FC236}">
                <a16:creationId xmlns:a16="http://schemas.microsoft.com/office/drawing/2014/main" id="{7837CB31-5F08-AB37-78CB-1434D7F2BC5F}"/>
              </a:ext>
            </a:extLst>
          </p:cNvPr>
          <p:cNvSpPr/>
          <p:nvPr/>
        </p:nvSpPr>
        <p:spPr>
          <a:xfrm>
            <a:off x="1713948" y="6941329"/>
            <a:ext cx="1698838" cy="235424"/>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3" name="CuadroTexto 2">
            <a:extLst>
              <a:ext uri="{FF2B5EF4-FFF2-40B4-BE49-F238E27FC236}">
                <a16:creationId xmlns:a16="http://schemas.microsoft.com/office/drawing/2014/main" id="{30AB6713-F6C4-5175-DC00-FD5E6058B152}"/>
              </a:ext>
            </a:extLst>
          </p:cNvPr>
          <p:cNvSpPr txBox="1"/>
          <p:nvPr/>
        </p:nvSpPr>
        <p:spPr>
          <a:xfrm>
            <a:off x="1688824" y="6945921"/>
            <a:ext cx="2320764" cy="2308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Generación vertida vs inyectada</a:t>
            </a:r>
          </a:p>
        </p:txBody>
      </p:sp>
      <p:sp>
        <p:nvSpPr>
          <p:cNvPr id="10" name="Rectángulo: esquinas redondeadas 9">
            <a:extLst>
              <a:ext uri="{FF2B5EF4-FFF2-40B4-BE49-F238E27FC236}">
                <a16:creationId xmlns:a16="http://schemas.microsoft.com/office/drawing/2014/main" id="{C43B683A-0C1D-C363-4A2E-6A2CFBB0D998}"/>
              </a:ext>
            </a:extLst>
          </p:cNvPr>
          <p:cNvSpPr/>
          <p:nvPr/>
        </p:nvSpPr>
        <p:spPr>
          <a:xfrm>
            <a:off x="6117402" y="6941329"/>
            <a:ext cx="1043517" cy="235424"/>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9" name="CuadroTexto 8">
            <a:extLst>
              <a:ext uri="{FF2B5EF4-FFF2-40B4-BE49-F238E27FC236}">
                <a16:creationId xmlns:a16="http://schemas.microsoft.com/office/drawing/2014/main" id="{389DA5AC-A243-245E-F5FA-E96CDBDF16BB}"/>
              </a:ext>
            </a:extLst>
          </p:cNvPr>
          <p:cNvSpPr txBox="1"/>
          <p:nvPr/>
        </p:nvSpPr>
        <p:spPr>
          <a:xfrm>
            <a:off x="6117403" y="6948932"/>
            <a:ext cx="2396981" cy="2308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Top -vertimientos</a:t>
            </a:r>
          </a:p>
        </p:txBody>
      </p:sp>
    </p:spTree>
    <p:extLst>
      <p:ext uri="{BB962C8B-B14F-4D97-AF65-F5344CB8AC3E}">
        <p14:creationId xmlns:p14="http://schemas.microsoft.com/office/powerpoint/2010/main" val="156781459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8C91C574-6856-B273-0044-0652910EB494}"/>
              </a:ext>
            </a:extLst>
          </p:cNvPr>
          <p:cNvPicPr>
            <a:picLocks noGrp="1" noRot="1" noChangeAspect="1" noMove="1" noResize="1" noEditPoints="1" noAdjustHandles="1" noChangeArrowheads="1" noChangeShapeType="1" noCrop="1"/>
          </p:cNvPicPr>
          <p:nvPr/>
        </p:nvPicPr>
        <p:blipFill rotWithShape="1">
          <a:blip r:embed="rId2" cstate="print">
            <a:extLst>
              <a:ext uri="{28A0092B-C50C-407E-A947-70E740481C1C}">
                <a14:useLocalDpi xmlns:a14="http://schemas.microsoft.com/office/drawing/2010/main" val="0"/>
              </a:ext>
            </a:extLst>
          </a:blip>
          <a:srcRect l="25875" t="-3385" r="25875" b="6771"/>
          <a:stretch/>
        </p:blipFill>
        <p:spPr>
          <a:xfrm>
            <a:off x="15737" y="-352900"/>
            <a:ext cx="7772400" cy="10073163"/>
          </a:xfrm>
          <a:prstGeom prst="rect">
            <a:avLst/>
          </a:prstGeom>
        </p:spPr>
      </p:pic>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15737" y="-36076"/>
            <a:ext cx="7803874" cy="1335958"/>
          </a:xfrm>
          <a:prstGeom prst="rect">
            <a:avLst/>
          </a:prstGeom>
          <a:solidFill>
            <a:srgbClr val="1F3B73"/>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endParaRPr lang="es-CL" sz="1800" b="1" kern="100" dirty="0">
              <a:effectLst/>
              <a:latin typeface="Segoe UI" panose="020B0502040204020203" pitchFamily="34" charset="0"/>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0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a:p>
            <a:pPr marL="630555">
              <a:lnSpc>
                <a:spcPct val="115000"/>
              </a:lnSpc>
              <a:spcAft>
                <a:spcPts val="800"/>
              </a:spcAft>
            </a:pPr>
            <a:r>
              <a:rPr lang="es-CL" sz="1600" b="1" kern="100" dirty="0">
                <a:effectLst/>
                <a:latin typeface="Segoe UI" panose="020B0502040204020203" pitchFamily="34" charset="0"/>
                <a:ea typeface="Aptos" panose="020B0004020202020204" pitchFamily="34" charset="0"/>
                <a:cs typeface="Times New Roman" panose="02020603050405020304" pitchFamily="18" charset="0"/>
              </a:rPr>
              <a:t> </a:t>
            </a:r>
            <a:endParaRPr lang="es-CL" sz="1200" kern="100" dirty="0">
              <a:effectLst/>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19190" y="107426"/>
            <a:ext cx="1163320" cy="1056640"/>
          </a:xfrm>
          <a:prstGeom prst="rect">
            <a:avLst/>
          </a:prstGeom>
        </p:spPr>
      </p:pic>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239672" y="1839594"/>
            <a:ext cx="7139333" cy="1505898"/>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3" name="Rectángulo: esquinas redondeadas 12">
            <a:extLst>
              <a:ext uri="{FF2B5EF4-FFF2-40B4-BE49-F238E27FC236}">
                <a16:creationId xmlns:a16="http://schemas.microsoft.com/office/drawing/2014/main" id="{11D5ABFF-0BBA-7118-4CAA-D0DEF3267EF8}"/>
              </a:ext>
            </a:extLst>
          </p:cNvPr>
          <p:cNvSpPr>
            <a:spLocks noGrp="1" noRot="1" noMove="1" noResize="1" noEditPoints="1" noAdjustHandles="1" noChangeArrowheads="1" noChangeShapeType="1"/>
          </p:cNvSpPr>
          <p:nvPr/>
        </p:nvSpPr>
        <p:spPr>
          <a:xfrm>
            <a:off x="267791" y="3716431"/>
            <a:ext cx="3344131" cy="4164238"/>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dirty="0"/>
          </a:p>
        </p:txBody>
      </p:sp>
      <p:sp>
        <p:nvSpPr>
          <p:cNvPr id="14" name="Rectángulo: esquinas redondeadas 13">
            <a:extLst>
              <a:ext uri="{FF2B5EF4-FFF2-40B4-BE49-F238E27FC236}">
                <a16:creationId xmlns:a16="http://schemas.microsoft.com/office/drawing/2014/main" id="{BC640CFB-D442-9CAF-05C2-333332C40FD7}"/>
              </a:ext>
            </a:extLst>
          </p:cNvPr>
          <p:cNvSpPr>
            <a:spLocks/>
          </p:cNvSpPr>
          <p:nvPr/>
        </p:nvSpPr>
        <p:spPr>
          <a:xfrm>
            <a:off x="3886200" y="3716430"/>
            <a:ext cx="3499664" cy="4164236"/>
          </a:xfrm>
          <a:prstGeom prst="roundRect">
            <a:avLst/>
          </a:prstGeom>
          <a:solidFill>
            <a:srgbClr val="FFFFFF"/>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9" name="Rectángulo: esquinas redondeadas 18">
            <a:extLst>
              <a:ext uri="{FF2B5EF4-FFF2-40B4-BE49-F238E27FC236}">
                <a16:creationId xmlns:a16="http://schemas.microsoft.com/office/drawing/2014/main" id="{0EC12BF4-2C47-4D6F-D968-FE2556122B71}"/>
              </a:ext>
            </a:extLst>
          </p:cNvPr>
          <p:cNvSpPr/>
          <p:nvPr/>
        </p:nvSpPr>
        <p:spPr>
          <a:xfrm>
            <a:off x="5664876" y="3825095"/>
            <a:ext cx="1424940" cy="230832"/>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20" name="CuadroTexto 19">
            <a:extLst>
              <a:ext uri="{FF2B5EF4-FFF2-40B4-BE49-F238E27FC236}">
                <a16:creationId xmlns:a16="http://schemas.microsoft.com/office/drawing/2014/main" id="{D074A6F0-4B53-95B0-A880-60470F1EA1FC}"/>
              </a:ext>
            </a:extLst>
          </p:cNvPr>
          <p:cNvSpPr txBox="1"/>
          <p:nvPr/>
        </p:nvSpPr>
        <p:spPr>
          <a:xfrm>
            <a:off x="-378648" y="227529"/>
            <a:ext cx="5070159" cy="392608"/>
          </a:xfrm>
          <a:prstGeom prst="rect">
            <a:avLst/>
          </a:prstGeom>
          <a:noFill/>
        </p:spPr>
        <p:txBody>
          <a:bodyPr wrap="square" rtlCol="0">
            <a:spAutoFit/>
          </a:bodyPr>
          <a:lstStyle/>
          <a:p>
            <a:pPr marL="630555">
              <a:lnSpc>
                <a:spcPct val="115000"/>
              </a:lnSpc>
              <a:spcAft>
                <a:spcPts val="800"/>
              </a:spcAft>
            </a:pPr>
            <a:r>
              <a:rPr lang="es-CL" sz="1800" b="1" kern="100" dirty="0">
                <a:solidFill>
                  <a:schemeClr val="bg1"/>
                </a:solidFill>
                <a:effectLst/>
                <a:latin typeface="Segoe UI" panose="020B0502040204020203" pitchFamily="34"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effectLst/>
              <a:ea typeface="Aptos" panose="020B0004020202020204" pitchFamily="34" charset="0"/>
              <a:cs typeface="Times New Roman" panose="02020603050405020304" pitchFamily="18" charset="0"/>
            </a:endParaRPr>
          </a:p>
        </p:txBody>
      </p:sp>
      <p:sp>
        <p:nvSpPr>
          <p:cNvPr id="21" name="CuadroTexto 20">
            <a:extLst>
              <a:ext uri="{FF2B5EF4-FFF2-40B4-BE49-F238E27FC236}">
                <a16:creationId xmlns:a16="http://schemas.microsoft.com/office/drawing/2014/main" id="{4C24B7D0-229A-B8F3-DAA3-3D947D0AC2C7}"/>
              </a:ext>
            </a:extLst>
          </p:cNvPr>
          <p:cNvSpPr txBox="1"/>
          <p:nvPr/>
        </p:nvSpPr>
        <p:spPr>
          <a:xfrm>
            <a:off x="-355976" y="555280"/>
            <a:ext cx="3874218" cy="566565"/>
          </a:xfrm>
          <a:prstGeom prst="rect">
            <a:avLst/>
          </a:prstGeom>
          <a:noFill/>
        </p:spPr>
        <p:txBody>
          <a:bodyPr wrap="square" rtlCol="0">
            <a:spAutoFit/>
          </a:bodyPr>
          <a:lstStyle/>
          <a:p>
            <a:pPr marL="630555">
              <a:lnSpc>
                <a:spcPct val="115000"/>
              </a:lnSpc>
              <a:spcAft>
                <a:spcPts val="800"/>
              </a:spcAft>
            </a:pPr>
            <a:r>
              <a:rPr lang="es-CL" sz="1400" b="1" kern="100" dirty="0">
                <a:solidFill>
                  <a:schemeClr val="bg1"/>
                </a:solidFill>
                <a:latin typeface="Segoe UI" panose="020B0502040204020203" pitchFamily="34" charset="0"/>
                <a:cs typeface="Times New Roman" panose="02020603050405020304" pitchFamily="18" charset="0"/>
              </a:rPr>
              <a:t>Periodo</a:t>
            </a:r>
            <a:r>
              <a:rPr lang="es-CL" sz="1400" b="1" kern="100" dirty="0">
                <a:effectLst/>
                <a:latin typeface="Segoe UI" panose="020B0502040204020203" pitchFamily="34" charset="0"/>
                <a:ea typeface="Aptos" panose="020B0004020202020204" pitchFamily="34" charset="0"/>
                <a:cs typeface="Times New Roman" panose="02020603050405020304" pitchFamily="18" charset="0"/>
              </a:rPr>
              <a:t> </a:t>
            </a:r>
            <a:r>
              <a:rPr lang="es-CL" sz="1400" b="1" kern="100" dirty="0">
                <a:solidFill>
                  <a:schemeClr val="bg1"/>
                </a:solidFill>
                <a:latin typeface="Segoe UI" panose="020B0502040204020203" pitchFamily="34" charset="0"/>
                <a:cs typeface="Times New Roman" panose="02020603050405020304" pitchFamily="18" charset="0"/>
              </a:rPr>
              <a:t>de estudio</a:t>
            </a:r>
            <a:br>
              <a:rPr lang="es-CL" sz="1400" b="1" kern="100" dirty="0">
                <a:solidFill>
                  <a:schemeClr val="bg1"/>
                </a:solidFill>
                <a:latin typeface="Segoe UI" panose="020B0502040204020203" pitchFamily="34" charset="0"/>
                <a:cs typeface="Times New Roman" panose="02020603050405020304" pitchFamily="18" charset="0"/>
              </a:rPr>
            </a:br>
            <a:r>
              <a:rPr lang="es-CL" sz="1400" b="1" kern="100" dirty="0">
                <a:solidFill>
                  <a:schemeClr val="bg1"/>
                </a:solidFill>
                <a:latin typeface="Segoe UI" panose="020B0502040204020203" pitchFamily="34" charset="0"/>
                <a:cs typeface="Times New Roman" panose="02020603050405020304" pitchFamily="18" charset="0"/>
              </a:rPr>
              <a:t>2024-01 → 2024-12                                           </a:t>
            </a:r>
          </a:p>
        </p:txBody>
      </p:sp>
      <p:sp>
        <p:nvSpPr>
          <p:cNvPr id="2" name="CuadroTexto 1">
            <a:extLst>
              <a:ext uri="{FF2B5EF4-FFF2-40B4-BE49-F238E27FC236}">
                <a16:creationId xmlns:a16="http://schemas.microsoft.com/office/drawing/2014/main" id="{B10D898F-3E4B-EC6C-BEC3-588F529EB856}"/>
              </a:ext>
            </a:extLst>
          </p:cNvPr>
          <p:cNvSpPr txBox="1"/>
          <p:nvPr/>
        </p:nvSpPr>
        <p:spPr>
          <a:xfrm>
            <a:off x="233341" y="1455704"/>
            <a:ext cx="2249528" cy="307777"/>
          </a:xfrm>
          <a:prstGeom prst="rect">
            <a:avLst/>
          </a:prstGeom>
          <a:noFill/>
        </p:spPr>
        <p:txBody>
          <a:bodyPr wrap="square" rtlCol="0">
            <a:spAutoFit/>
          </a:bodyPr>
          <a:lstStyle/>
          <a:p>
            <a:r>
              <a:rPr lang="es-CL" sz="1400" b="1" kern="100" dirty="0">
                <a:solidFill>
                  <a:srgbClr val="002060"/>
                </a:solidFill>
                <a:latin typeface="Segoe UI" panose="020B0502040204020203" pitchFamily="34" charset="0"/>
                <a:cs typeface="Times New Roman" panose="02020603050405020304" pitchFamily="18" charset="0"/>
              </a:rPr>
              <a:t>Desempeño económico</a:t>
            </a:r>
          </a:p>
        </p:txBody>
      </p:sp>
      <p:cxnSp>
        <p:nvCxnSpPr>
          <p:cNvPr id="3" name="Conector recto 2">
            <a:extLst>
              <a:ext uri="{FF2B5EF4-FFF2-40B4-BE49-F238E27FC236}">
                <a16:creationId xmlns:a16="http://schemas.microsoft.com/office/drawing/2014/main" id="{5B465C24-7539-AFE5-0114-2AB935679834}"/>
              </a:ext>
            </a:extLst>
          </p:cNvPr>
          <p:cNvCxnSpPr>
            <a:cxnSpLocks/>
          </p:cNvCxnSpPr>
          <p:nvPr/>
        </p:nvCxnSpPr>
        <p:spPr>
          <a:xfrm>
            <a:off x="239672" y="1723626"/>
            <a:ext cx="706282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23" name="CuadroTexto 22">
            <a:extLst>
              <a:ext uri="{FF2B5EF4-FFF2-40B4-BE49-F238E27FC236}">
                <a16:creationId xmlns:a16="http://schemas.microsoft.com/office/drawing/2014/main" id="{470618BE-80E3-6578-FCC8-D12F7C467F04}"/>
              </a:ext>
            </a:extLst>
          </p:cNvPr>
          <p:cNvSpPr txBox="1"/>
          <p:nvPr/>
        </p:nvSpPr>
        <p:spPr>
          <a:xfrm>
            <a:off x="552450" y="1937199"/>
            <a:ext cx="6705600" cy="646331"/>
          </a:xfrm>
          <a:prstGeom prst="rect">
            <a:avLst/>
          </a:prstGeom>
          <a:noFill/>
        </p:spPr>
        <p:txBody>
          <a:bodyPr wrap="square" rtlCol="0">
            <a:spAutoFit/>
          </a:bodyPr>
          <a:lstStyle/>
          <a:p>
            <a:pPr algn="just"/>
            <a:endParaRPr lang="es-CL" sz="900" dirty="0">
              <a:latin typeface="Calibri" panose="020F0502020204030204" pitchFamily="34" charset="0"/>
              <a:ea typeface="Calibri" panose="020F0502020204030204" pitchFamily="34" charset="0"/>
              <a:cs typeface="Calibri" panose="020F0502020204030204" pitchFamily="34" charset="0"/>
            </a:endParaRPr>
          </a:p>
          <a:p>
            <a:br>
              <a:rPr lang="es-CL" sz="900" b="0" i="0" dirty="0">
                <a:solidFill>
                  <a:srgbClr val="111111"/>
                </a:solidFill>
                <a:effectLst/>
                <a:highlight>
                  <a:srgbClr val="FFFFFF"/>
                </a:highlight>
                <a:latin typeface="system-ui"/>
              </a:rPr>
            </a:br>
            <a:endParaRPr lang="es-CL" dirty="0"/>
          </a:p>
        </p:txBody>
      </p:sp>
      <p:sp>
        <p:nvSpPr>
          <p:cNvPr id="9" name="Rectángulo: esquinas redondeadas 8">
            <a:extLst>
              <a:ext uri="{FF2B5EF4-FFF2-40B4-BE49-F238E27FC236}">
                <a16:creationId xmlns:a16="http://schemas.microsoft.com/office/drawing/2014/main" id="{DB4F3ED8-563E-E23B-AF92-C5559EFFC75A}"/>
              </a:ext>
            </a:extLst>
          </p:cNvPr>
          <p:cNvSpPr/>
          <p:nvPr/>
        </p:nvSpPr>
        <p:spPr>
          <a:xfrm>
            <a:off x="1763499" y="3906924"/>
            <a:ext cx="1698838" cy="235424"/>
          </a:xfrm>
          <a:prstGeom prst="roundRect">
            <a:avLst/>
          </a:prstGeom>
          <a:solidFill>
            <a:srgbClr val="EEF2FF"/>
          </a:solidFill>
          <a:ln>
            <a:solidFill>
              <a:srgbClr val="E0E7FF"/>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CL"/>
          </a:p>
        </p:txBody>
      </p:sp>
      <p:sp>
        <p:nvSpPr>
          <p:cNvPr id="11" name="CuadroTexto 10">
            <a:extLst>
              <a:ext uri="{FF2B5EF4-FFF2-40B4-BE49-F238E27FC236}">
                <a16:creationId xmlns:a16="http://schemas.microsoft.com/office/drawing/2014/main" id="{1CF059A5-308D-8100-9A77-B7F0326FBB6B}"/>
              </a:ext>
            </a:extLst>
          </p:cNvPr>
          <p:cNvSpPr txBox="1"/>
          <p:nvPr/>
        </p:nvSpPr>
        <p:spPr>
          <a:xfrm>
            <a:off x="1763499" y="3906924"/>
            <a:ext cx="2396981" cy="230832"/>
          </a:xfrm>
          <a:prstGeom prst="rect">
            <a:avLst/>
          </a:prstGeom>
          <a:noFill/>
        </p:spPr>
        <p:txBody>
          <a:bodyPr wrap="square" rtlCol="0">
            <a:spAutoFit/>
          </a:bodyPr>
          <a:lstStyle/>
          <a:p>
            <a:r>
              <a:rPr lang="es-CL" sz="900" dirty="0">
                <a:solidFill>
                  <a:srgbClr val="002060"/>
                </a:solidFill>
                <a:latin typeface="Abadi" panose="020B0604020104020204" pitchFamily="34" charset="0"/>
                <a:ea typeface="Calibri" panose="020F0502020204030204" pitchFamily="34" charset="0"/>
                <a:cs typeface="Calibri" panose="020F0502020204030204" pitchFamily="34" charset="0"/>
              </a:rPr>
              <a:t>Generación vertida vs inyectada</a:t>
            </a:r>
          </a:p>
        </p:txBody>
      </p:sp>
    </p:spTree>
    <p:extLst>
      <p:ext uri="{BB962C8B-B14F-4D97-AF65-F5344CB8AC3E}">
        <p14:creationId xmlns:p14="http://schemas.microsoft.com/office/powerpoint/2010/main" val="270399877"/>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341</TotalTime>
  <Words>607</Words>
  <Application>Microsoft Office PowerPoint</Application>
  <PresentationFormat>Personalizado</PresentationFormat>
  <Paragraphs>71</Paragraphs>
  <Slides>5</Slides>
  <Notes>0</Notes>
  <HiddenSlides>1</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5</vt:i4>
      </vt:variant>
    </vt:vector>
  </HeadingPairs>
  <TitlesOfParts>
    <vt:vector size="13" baseType="lpstr">
      <vt:lpstr>Abadi</vt:lpstr>
      <vt:lpstr>Aptos</vt:lpstr>
      <vt:lpstr>Aptos Display</vt:lpstr>
      <vt:lpstr>Arial</vt:lpstr>
      <vt:lpstr>Calibri</vt:lpstr>
      <vt:lpstr>Segoe UI</vt:lpstr>
      <vt:lpstr>system-ui</vt:lpstr>
      <vt:lpstr>Tema de Office</vt:lpstr>
      <vt:lpstr>Presentación de PowerPoint</vt:lpstr>
      <vt:lpstr>Presentación de PowerPoint</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 Bustos</cp:lastModifiedBy>
  <cp:revision>22</cp:revision>
  <dcterms:created xsi:type="dcterms:W3CDTF">2026-03-11T19:15:10Z</dcterms:created>
  <dcterms:modified xsi:type="dcterms:W3CDTF">2026-03-12T19:47:08Z</dcterms:modified>
</cp:coreProperties>
</file>